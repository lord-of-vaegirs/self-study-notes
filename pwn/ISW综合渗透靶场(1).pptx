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1" r:id="rId2"/>
    <p:sldId id="272" r:id="rId3"/>
    <p:sldId id="273" r:id="rId4"/>
    <p:sldId id="259" r:id="rId5"/>
    <p:sldId id="275" r:id="rId6"/>
    <p:sldId id="260" r:id="rId7"/>
    <p:sldId id="279" r:id="rId8"/>
    <p:sldId id="280" r:id="rId9"/>
    <p:sldId id="281" r:id="rId10"/>
    <p:sldId id="261" r:id="rId11"/>
    <p:sldId id="262" r:id="rId12"/>
    <p:sldId id="276" r:id="rId13"/>
    <p:sldId id="264" r:id="rId14"/>
    <p:sldId id="265" r:id="rId15"/>
    <p:sldId id="27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 showGuides="1">
      <p:cViewPr varScale="1">
        <p:scale>
          <a:sx n="121" d="100"/>
          <a:sy n="121" d="100"/>
        </p:scale>
        <p:origin x="392" y="168"/>
      </p:cViewPr>
      <p:guideLst>
        <p:guide orient="horz" pos="21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5532437"/>
            <a:ext cx="12204699" cy="1325563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5455577"/>
            <a:ext cx="12204700" cy="768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611911" y="3290935"/>
            <a:ext cx="3167924" cy="451328"/>
          </a:xfrm>
          <a:prstGeom prst="rect">
            <a:avLst/>
          </a:prstGeom>
          <a:noFill/>
        </p:spPr>
        <p:txBody>
          <a:bodyPr wrap="square" lIns="121907" tIns="60953" rIns="121907" bIns="60953" rtlCol="0">
            <a:spAutoFit/>
          </a:bodyPr>
          <a:lstStyle/>
          <a:p>
            <a:pPr algn="ctr"/>
            <a:r>
              <a:rPr lang="en-US" altLang="zh-CN" sz="2135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  <a:ea typeface="Adobe 宋体 Std L" pitchFamily="18" charset="-122"/>
              </a:rPr>
              <a:t> INTRODUCTION</a:t>
            </a:r>
          </a:p>
        </p:txBody>
      </p:sp>
      <p:sp>
        <p:nvSpPr>
          <p:cNvPr id="17" name="文本框 52"/>
          <p:cNvSpPr txBox="1"/>
          <p:nvPr userDrawn="1"/>
        </p:nvSpPr>
        <p:spPr>
          <a:xfrm>
            <a:off x="565489" y="2591808"/>
            <a:ext cx="3629810" cy="661705"/>
          </a:xfrm>
          <a:prstGeom prst="rect">
            <a:avLst/>
          </a:prstGeom>
          <a:noFill/>
        </p:spPr>
        <p:txBody>
          <a:bodyPr wrap="square" lIns="121907" tIns="60953" rIns="121907" bIns="60953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内容简介</a:t>
            </a:r>
          </a:p>
        </p:txBody>
      </p:sp>
      <p:pic>
        <p:nvPicPr>
          <p:cNvPr id="3" name="图片 2" descr="未标题-4-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3008" y="1528885"/>
            <a:ext cx="3825984" cy="38002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/>
          </a:solidFill>
          <a:ln>
            <a:solidFill>
              <a:srgbClr val="F8C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未标题-4-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467833" y="2094282"/>
            <a:ext cx="11185451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 spc="-150">
                <a:solidFill>
                  <a:schemeClr val="tx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+mj-cs"/>
              </a:defRPr>
            </a:lvl1pPr>
          </a:lstStyle>
          <a:p>
            <a:pPr algn="ctr"/>
            <a:r>
              <a:rPr kumimoji="1" lang="en-US" altLang="zh-CN" sz="4400" b="1" spc="0" dirty="0">
                <a:solidFill>
                  <a:srgbClr val="F8C033"/>
                </a:solidFill>
                <a:latin typeface="微软雅黑" charset="-122"/>
                <a:ea typeface="微软雅黑" charset="-122"/>
              </a:rPr>
              <a:t>ISW</a:t>
            </a:r>
            <a:r>
              <a:rPr kumimoji="1" lang="zh-CN" altLang="en-US" sz="4400" b="1" spc="0" dirty="0">
                <a:solidFill>
                  <a:srgbClr val="F8C033"/>
                </a:solidFill>
                <a:latin typeface="微软雅黑" charset="-122"/>
                <a:ea typeface="微软雅黑" charset="-122"/>
              </a:rPr>
              <a:t>综合渗透靶场</a:t>
            </a:r>
          </a:p>
        </p:txBody>
      </p:sp>
      <p:sp>
        <p:nvSpPr>
          <p:cNvPr id="5" name="标题 1"/>
          <p:cNvSpPr txBox="1"/>
          <p:nvPr/>
        </p:nvSpPr>
        <p:spPr>
          <a:xfrm>
            <a:off x="2679406" y="2485575"/>
            <a:ext cx="68792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 spc="-150">
                <a:solidFill>
                  <a:schemeClr val="tx1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  <a:cs typeface="+mj-cs"/>
              </a:defRPr>
            </a:lvl1pPr>
          </a:lstStyle>
          <a:p>
            <a:pPr algn="ctr"/>
            <a:endParaRPr kumimoji="1" lang="zh-CN" altLang="en-US" sz="1800" spc="300" dirty="0">
              <a:solidFill>
                <a:schemeClr val="bg1">
                  <a:lumMod val="6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26"/>
          <p:cNvSpPr txBox="1"/>
          <p:nvPr/>
        </p:nvSpPr>
        <p:spPr>
          <a:xfrm>
            <a:off x="4156075" y="5656580"/>
            <a:ext cx="1924685" cy="201295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r>
              <a:rPr lang="zh-CN" altLang="en-US" sz="1600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主讲人：霄壤实验室</a:t>
            </a:r>
          </a:p>
        </p:txBody>
      </p:sp>
      <p:sp>
        <p:nvSpPr>
          <p:cNvPr id="9" name="Shape 26"/>
          <p:cNvSpPr txBox="1"/>
          <p:nvPr/>
        </p:nvSpPr>
        <p:spPr>
          <a:xfrm>
            <a:off x="6284158" y="5656520"/>
            <a:ext cx="1924176" cy="273331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r>
              <a:rPr lang="zh-CN" altLang="en-US" sz="1600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1600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2024</a:t>
            </a:r>
            <a:r>
              <a:rPr lang="zh-CN" altLang="en-US" sz="1600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1600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r>
              <a:rPr lang="zh-CN" altLang="en-US" sz="1600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endParaRPr lang="en-US" altLang="zh-CN" sz="1600" dirty="0">
              <a:solidFill>
                <a:srgbClr val="F8C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157330" y="3278482"/>
            <a:ext cx="387025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10" y="640193"/>
            <a:ext cx="2394065" cy="1145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4322" y="2374548"/>
            <a:ext cx="6062114" cy="330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92218" y="2106386"/>
            <a:ext cx="399927" cy="374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占位符 27"/>
          <p:cNvSpPr txBox="1"/>
          <p:nvPr/>
        </p:nvSpPr>
        <p:spPr>
          <a:xfrm>
            <a:off x="5616095" y="2058395"/>
            <a:ext cx="5326948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zh-CN" altLang="en-US" sz="2400" dirty="0">
                <a:latin typeface="+mj-ea"/>
                <a:ea typeface="+mj-ea"/>
              </a:rPr>
              <a:t>引言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4322" y="3314577"/>
            <a:ext cx="6062114" cy="330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2368" y="3122781"/>
            <a:ext cx="469755" cy="380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4322" y="4364852"/>
            <a:ext cx="6062114" cy="330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92003" y="4091070"/>
            <a:ext cx="482451" cy="380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5"/>
          <p:cNvSpPr txBox="1"/>
          <p:nvPr/>
        </p:nvSpPr>
        <p:spPr>
          <a:xfrm>
            <a:off x="611911" y="3290935"/>
            <a:ext cx="3167924" cy="451328"/>
          </a:xfrm>
          <a:prstGeom prst="rect">
            <a:avLst/>
          </a:prstGeom>
          <a:noFill/>
        </p:spPr>
        <p:txBody>
          <a:bodyPr wrap="square" lIns="121907" tIns="60953" rIns="121907" bIns="60953" rtlCol="0">
            <a:spAutoFit/>
          </a:bodyPr>
          <a:lstStyle/>
          <a:p>
            <a:pPr algn="ctr"/>
            <a:r>
              <a:rPr lang="en-US" altLang="zh-CN" sz="2135" dirty="0">
                <a:solidFill>
                  <a:schemeClr val="bg1">
                    <a:lumMod val="65000"/>
                  </a:schemeClr>
                </a:solidFill>
                <a:latin typeface="Agency FB" panose="020B0503020202020204" pitchFamily="34" charset="0"/>
                <a:ea typeface="Adobe 宋体 Std L" pitchFamily="18" charset="-122"/>
              </a:rPr>
              <a:t> INTRODUCTION</a:t>
            </a:r>
          </a:p>
        </p:txBody>
      </p:sp>
      <p:sp>
        <p:nvSpPr>
          <p:cNvPr id="21" name="文本框 52"/>
          <p:cNvSpPr txBox="1"/>
          <p:nvPr/>
        </p:nvSpPr>
        <p:spPr>
          <a:xfrm>
            <a:off x="565489" y="2591808"/>
            <a:ext cx="3629810" cy="661705"/>
          </a:xfrm>
          <a:prstGeom prst="rect">
            <a:avLst/>
          </a:prstGeom>
          <a:noFill/>
        </p:spPr>
        <p:txBody>
          <a:bodyPr wrap="square" lIns="121907" tIns="60953" rIns="121907" bIns="60953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内容简介</a:t>
            </a:r>
          </a:p>
        </p:txBody>
      </p:sp>
      <p:sp>
        <p:nvSpPr>
          <p:cNvPr id="22" name="文本占位符 27"/>
          <p:cNvSpPr txBox="1"/>
          <p:nvPr/>
        </p:nvSpPr>
        <p:spPr>
          <a:xfrm>
            <a:off x="5616095" y="3040580"/>
            <a:ext cx="5326948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zh-CN" altLang="en-US" sz="2400" dirty="0">
                <a:latin typeface="+mj-ea"/>
                <a:ea typeface="+mj-ea"/>
              </a:rPr>
              <a:t>前置基础知识</a:t>
            </a:r>
          </a:p>
        </p:txBody>
      </p:sp>
      <p:sp>
        <p:nvSpPr>
          <p:cNvPr id="23" name="文本占位符 27"/>
          <p:cNvSpPr txBox="1"/>
          <p:nvPr/>
        </p:nvSpPr>
        <p:spPr>
          <a:xfrm>
            <a:off x="5616095" y="4072694"/>
            <a:ext cx="4910341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zh-CN" altLang="en-US" sz="2400" dirty="0">
                <a:latin typeface="+mj-ea"/>
                <a:ea typeface="+mj-ea"/>
              </a:rPr>
              <a:t>实战案例</a:t>
            </a:r>
          </a:p>
        </p:txBody>
      </p:sp>
      <p:sp>
        <p:nvSpPr>
          <p:cNvPr id="24" name="文本占位符 27"/>
          <p:cNvSpPr txBox="1"/>
          <p:nvPr/>
        </p:nvSpPr>
        <p:spPr>
          <a:xfrm>
            <a:off x="5616095" y="4421383"/>
            <a:ext cx="5326948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7"/>
          <p:cNvSpPr txBox="1"/>
          <p:nvPr/>
        </p:nvSpPr>
        <p:spPr>
          <a:xfrm>
            <a:off x="4309813" y="1745227"/>
            <a:ext cx="3354898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zh-CN" altLang="en-US" sz="2500" b="1" dirty="0">
                <a:solidFill>
                  <a:srgbClr val="F0F5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600" y="2393484"/>
            <a:ext cx="1315752" cy="1978494"/>
          </a:xfrm>
          <a:prstGeom prst="rect">
            <a:avLst/>
          </a:prstGeom>
        </p:spPr>
      </p:pic>
      <p:sp>
        <p:nvSpPr>
          <p:cNvPr id="26" name="Content Placeholder 2"/>
          <p:cNvSpPr txBox="1"/>
          <p:nvPr/>
        </p:nvSpPr>
        <p:spPr bwMode="auto">
          <a:xfrm>
            <a:off x="4472248" y="2608052"/>
            <a:ext cx="3128068" cy="2072807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ISW</a:t>
            </a: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综合渗透靶场介绍</a:t>
            </a:r>
            <a:endParaRPr lang="en-US" altLang="zh-CN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zh-CN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575280" y="2255260"/>
            <a:ext cx="2895515" cy="0"/>
          </a:xfrm>
          <a:prstGeom prst="line">
            <a:avLst/>
          </a:prstGeom>
          <a:ln>
            <a:solidFill>
              <a:srgbClr val="F8C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>
            <a:fillRect/>
          </a:stretch>
        </p:blipFill>
        <p:spPr>
          <a:xfrm>
            <a:off x="7092557" y="1559288"/>
            <a:ext cx="4492828" cy="4492828"/>
          </a:xfrm>
          <a:prstGeom prst="round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557080" y="1431615"/>
            <a:ext cx="1511760" cy="1373901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720871" y="1321887"/>
            <a:ext cx="1111026" cy="161544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Freeform 9"/>
          <p:cNvSpPr/>
          <p:nvPr/>
        </p:nvSpPr>
        <p:spPr>
          <a:xfrm>
            <a:off x="539110" y="3161277"/>
            <a:ext cx="1511760" cy="1373901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0" name="TextBox 10"/>
          <p:cNvSpPr txBox="1"/>
          <p:nvPr/>
        </p:nvSpPr>
        <p:spPr>
          <a:xfrm>
            <a:off x="727285" y="3051549"/>
            <a:ext cx="1111026" cy="161544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Freeform 11"/>
          <p:cNvSpPr/>
          <p:nvPr/>
        </p:nvSpPr>
        <p:spPr>
          <a:xfrm>
            <a:off x="575049" y="4866556"/>
            <a:ext cx="1511760" cy="1373901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751032" y="4756828"/>
            <a:ext cx="1111026" cy="161544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48535" y="1361765"/>
            <a:ext cx="4235703" cy="1228725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渗透测试靶场是一种预设漏洞环境，其目的是模拟企业或个人在实际中可能遇到的网络安全威胁，帮助用户通过攻击的方式掌握网络安全技能。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8535" y="3135142"/>
            <a:ext cx="4235703" cy="88265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涵盖多种渗透测试场景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以及各种渗透测试知识点</a:t>
            </a:r>
          </a:p>
          <a:p>
            <a:pPr>
              <a:lnSpc>
                <a:spcPct val="15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如云攻防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域渗透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8535" y="4866556"/>
            <a:ext cx="4235703" cy="536575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助力安全人员提升实战能力</a:t>
            </a:r>
            <a:endParaRPr lang="zh-CN" altLang="en-US" sz="1500">
              <a:solidFill>
                <a:schemeClr val="dk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0007" name="AutoShape 16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ISW综合渗透靶场介绍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62" y="2322957"/>
            <a:ext cx="1339109" cy="2009651"/>
          </a:xfrm>
          <a:prstGeom prst="rect">
            <a:avLst/>
          </a:prstGeom>
        </p:spPr>
      </p:pic>
      <p:sp>
        <p:nvSpPr>
          <p:cNvPr id="7" name="文本占位符 27"/>
          <p:cNvSpPr txBox="1"/>
          <p:nvPr/>
        </p:nvSpPr>
        <p:spPr>
          <a:xfrm>
            <a:off x="4309813" y="1745227"/>
            <a:ext cx="3354898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zh-CN" altLang="en-US" sz="2500" b="1" dirty="0">
                <a:solidFill>
                  <a:srgbClr val="F0F5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基础知识</a:t>
            </a:r>
          </a:p>
        </p:txBody>
      </p:sp>
      <p:sp>
        <p:nvSpPr>
          <p:cNvPr id="8" name="Content Placeholder 2"/>
          <p:cNvSpPr txBox="1"/>
          <p:nvPr/>
        </p:nvSpPr>
        <p:spPr bwMode="auto">
          <a:xfrm>
            <a:off x="4472248" y="2608052"/>
            <a:ext cx="3128068" cy="2072807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信息收集</a:t>
            </a: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权限提升</a:t>
            </a:r>
            <a:endParaRPr lang="en-US" altLang="zh-CN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代理隧道</a:t>
            </a: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域渗透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575280" y="2255260"/>
            <a:ext cx="2895515" cy="0"/>
          </a:xfrm>
          <a:prstGeom prst="line">
            <a:avLst/>
          </a:prstGeom>
          <a:ln>
            <a:solidFill>
              <a:srgbClr val="F8C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82000"/>
          </a:blip>
          <a:srcRect l="24558" r="24558"/>
          <a:stretch>
            <a:fillRect/>
          </a:stretch>
        </p:blipFill>
        <p:spPr>
          <a:xfrm>
            <a:off x="154300" y="1109992"/>
            <a:ext cx="4095887" cy="5366385"/>
          </a:xfrm>
          <a:prstGeom prst="parallelogram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5021790" y="1109992"/>
            <a:ext cx="5989821" cy="71999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信息收集的意义</a:t>
            </a:r>
          </a:p>
        </p:txBody>
      </p:sp>
      <p:sp>
        <p:nvSpPr>
          <p:cNvPr id="8" name="AutoShape 8"/>
          <p:cNvSpPr/>
          <p:nvPr/>
        </p:nvSpPr>
        <p:spPr>
          <a:xfrm>
            <a:off x="3723196" y="1295798"/>
            <a:ext cx="668149" cy="523974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4144917" y="1295798"/>
            <a:ext cx="523974" cy="5239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3461209" y="1295798"/>
            <a:ext cx="523974" cy="5239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3629632" y="1174560"/>
            <a:ext cx="761713" cy="75483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1790" y="1611739"/>
            <a:ext cx="5833336" cy="127741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在渗透测试或安全评估的起始阶段，全面而准确地收集目标系统的信息至关重要。这一过程不仅有助于我们更好地理解目标环境，还能为后续的测试工作提供有力支持。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3086" y="2766189"/>
            <a:ext cx="5989821" cy="71999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信息收集的内容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304492" y="2951995"/>
            <a:ext cx="668149" cy="523974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3726213" y="2951995"/>
            <a:ext cx="523974" cy="5239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042505" y="2951995"/>
            <a:ext cx="523974" cy="5239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7" name="TextBox 17"/>
          <p:cNvSpPr txBox="1"/>
          <p:nvPr/>
        </p:nvSpPr>
        <p:spPr>
          <a:xfrm>
            <a:off x="3094713" y="2830757"/>
            <a:ext cx="1050205" cy="75483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3086" y="3267935"/>
            <a:ext cx="5833336" cy="127741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收集的信息通常包括目标系统的网络架构、IP地址范围、开放的端口和服务、运行的操作系统类型以及任何已知的漏洞或安全弱点等，为测试提供有力支持。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21062" y="4422385"/>
            <a:ext cx="5989821" cy="71999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信息收集的方法</a:t>
            </a:r>
          </a:p>
        </p:txBody>
      </p:sp>
      <p:sp>
        <p:nvSpPr>
          <p:cNvPr id="20" name="AutoShape 20"/>
          <p:cNvSpPr/>
          <p:nvPr/>
        </p:nvSpPr>
        <p:spPr>
          <a:xfrm>
            <a:off x="2922468" y="4608191"/>
            <a:ext cx="668149" cy="523974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3344189" y="4608191"/>
            <a:ext cx="523974" cy="5239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2" name="AutoShape 22"/>
          <p:cNvSpPr/>
          <p:nvPr/>
        </p:nvSpPr>
        <p:spPr>
          <a:xfrm>
            <a:off x="2660481" y="4608191"/>
            <a:ext cx="523974" cy="52397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3" name="TextBox 23"/>
          <p:cNvSpPr txBox="1"/>
          <p:nvPr/>
        </p:nvSpPr>
        <p:spPr>
          <a:xfrm>
            <a:off x="2741771" y="4486953"/>
            <a:ext cx="1062715" cy="75483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21062" y="4924131"/>
            <a:ext cx="5833336" cy="127741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我们采用多种方法和技术来进行信息收集，如使用网络扫描工具、</a:t>
            </a: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网络空间搜素引擎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等，以确保能够全面且准确地掌握目标系统的网络和服务信息。</a:t>
            </a:r>
          </a:p>
        </p:txBody>
      </p:sp>
      <p:sp>
        <p:nvSpPr>
          <p:cNvPr id="400007" name="AutoShape 25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信息收集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/>
          <p:nvPr/>
        </p:nvSpPr>
        <p:spPr bwMode="auto">
          <a:xfrm>
            <a:off x="921572" y="2382235"/>
            <a:ext cx="10577028" cy="3190307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被动信息收集：通过公开资源获取目标信息。</a:t>
            </a: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   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子域名的发现</a:t>
            </a: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(gobuster</a:t>
            </a: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、</a:t>
            </a: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ksubdomain)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gobuster dns -d example.com -w /path/to/wordlist.txt -t 50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ksubdomain enum -d example.com -f /path/to/wordlist.txt -o subdomains.txt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web</a:t>
            </a: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网站框架识别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利用一些浏览器插件</a:t>
            </a: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 wappalyzer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社会工程初步信息（网站上所泄露的邮箱、电话等）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cewl http://example.com/ -w dict.txt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1700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" name="Rectangle 12"/>
          <p:cNvSpPr/>
          <p:nvPr/>
        </p:nvSpPr>
        <p:spPr>
          <a:xfrm>
            <a:off x="832424" y="1299961"/>
            <a:ext cx="306199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被动信息收集</a:t>
            </a:r>
          </a:p>
        </p:txBody>
      </p:sp>
      <p:sp>
        <p:nvSpPr>
          <p:cNvPr id="7" name="矩形 6"/>
          <p:cNvSpPr/>
          <p:nvPr/>
        </p:nvSpPr>
        <p:spPr>
          <a:xfrm>
            <a:off x="503038" y="468853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ln w="0"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信息收集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03038" y="468853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ln w="0"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信息收集</a:t>
            </a:r>
          </a:p>
        </p:txBody>
      </p:sp>
      <p:sp>
        <p:nvSpPr>
          <p:cNvPr id="5" name="Rectangle 12"/>
          <p:cNvSpPr/>
          <p:nvPr/>
        </p:nvSpPr>
        <p:spPr>
          <a:xfrm>
            <a:off x="832424" y="1299961"/>
            <a:ext cx="306199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F8C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主动信息收集</a:t>
            </a:r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807085" y="2382520"/>
            <a:ext cx="10577195" cy="4034790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主动信息收集：通过主动扫描目标网络、系统，获取更多的技术性信息。</a:t>
            </a:r>
            <a:endParaRPr lang="en-US" altLang="zh-CN" sz="1700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端口扫描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fscan -h 192.168.1.1/24 || fscan -p 1-65535 -np -h 192.168.1.1/24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nmap 192.168.1.1/24</a:t>
            </a:r>
            <a:endParaRPr lang="zh-CN" altLang="en-US" sz="1700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操作系统的识别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nmap -O 192.168.1.1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nmap -A 192.168.1.1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web</a:t>
            </a: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路径扫描</a:t>
            </a: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gobuster dir -u http://example.com -w /path/to/wordlist.txt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python3 dirsearch.py -u http://example.com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1700" dirty="0">
              <a:latin typeface="微软雅黑" charset="-122"/>
              <a:ea typeface="微软雅黑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03038" y="468853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ln w="0"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权限提升</a:t>
            </a:r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445322" y="1891380"/>
            <a:ext cx="10577028" cy="3190307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</a:rPr>
              <a:t>权限提升：从低权限用户获取系统高权限用户的这一过程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内核漏洞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https://github.com/liamg/traitor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错误配置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信息泄露提权</a:t>
            </a:r>
          </a:p>
          <a:p>
            <a:pPr marL="457200" lvl="2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https://github.com/peass-ng/PEASS-ng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1700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700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sp>
        <p:nvSpPr>
          <p:cNvPr id="5" name="AutoShape 5"/>
          <p:cNvSpPr/>
          <p:nvPr/>
        </p:nvSpPr>
        <p:spPr>
          <a:xfrm>
            <a:off x="3457229" y="1366715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3585573" y="1495059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7" name="Connector 7"/>
          <p:cNvCxnSpPr/>
          <p:nvPr/>
        </p:nvCxnSpPr>
        <p:spPr>
          <a:xfrm>
            <a:off x="3761139" y="1974534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4197466" y="1162542"/>
            <a:ext cx="656395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代理隧道的作用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7466" y="1685121"/>
            <a:ext cx="656395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在渗透测试或网络管理中，代理隧道技术发挥着至关重要的作用。通过该技术，我们可以有效地在目标网络和本地系统之间建立安全的通信通道，从而实现数据的双向传输。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-191509" y="1859314"/>
            <a:ext cx="3687085" cy="3687085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alphaModFix/>
          </a:blip>
          <a:srcRect l="20750" r="20750"/>
          <a:stretch>
            <a:fillRect/>
          </a:stretch>
        </p:blipFill>
        <p:spPr>
          <a:xfrm>
            <a:off x="0" y="2058142"/>
            <a:ext cx="3304066" cy="3304066"/>
          </a:xfrm>
          <a:prstGeom prst="ellipse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457229" y="3005324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3585573" y="3133668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4" name="Connector 14"/>
          <p:cNvCxnSpPr/>
          <p:nvPr/>
        </p:nvCxnSpPr>
        <p:spPr>
          <a:xfrm>
            <a:off x="3761139" y="3613143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5"/>
          <p:cNvSpPr txBox="1"/>
          <p:nvPr/>
        </p:nvSpPr>
        <p:spPr>
          <a:xfrm>
            <a:off x="4197466" y="2801151"/>
            <a:ext cx="656395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代理隧道的建立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97466" y="3323731"/>
            <a:ext cx="656395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建立代理隧道通常涉及在目标系统上安装并配置代理软件，同时在本地系统上指定代理服务器的地址和端口。这种设置确保了数据流量通过安全的通道进行传输。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457229" y="4643934"/>
            <a:ext cx="607819" cy="607819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3585573" y="4772277"/>
            <a:ext cx="351132" cy="35113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9" name="Connector 19"/>
          <p:cNvCxnSpPr/>
          <p:nvPr/>
        </p:nvCxnSpPr>
        <p:spPr>
          <a:xfrm>
            <a:off x="3761139" y="5251753"/>
            <a:ext cx="0" cy="831102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20"/>
          <p:cNvSpPr txBox="1"/>
          <p:nvPr/>
        </p:nvSpPr>
        <p:spPr>
          <a:xfrm>
            <a:off x="4197466" y="4439760"/>
            <a:ext cx="6563956" cy="69677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代理隧道的应用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97466" y="4962340"/>
            <a:ext cx="6563956" cy="1146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建立了代理隧道后，我们就可以在本地系统和目标网络之间传递数据，如执行命令、传输文件等，同时能够隐藏真实的网络拓扑结构，增强操作的安全性和隐蔽性。</a:t>
            </a:r>
          </a:p>
        </p:txBody>
      </p:sp>
      <p:sp>
        <p:nvSpPr>
          <p:cNvPr id="400007" name="AutoShape 22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代理隧道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237012" y="3770758"/>
            <a:ext cx="1428750" cy="14287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cxnSp>
        <p:nvCxnSpPr>
          <p:cNvPr id="6" name="Connector 6"/>
          <p:cNvCxnSpPr/>
          <p:nvPr/>
        </p:nvCxnSpPr>
        <p:spPr>
          <a:xfrm>
            <a:off x="1151752" y="1031049"/>
            <a:ext cx="0" cy="5501196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AutoShape 7"/>
          <p:cNvSpPr/>
          <p:nvPr/>
        </p:nvSpPr>
        <p:spPr>
          <a:xfrm>
            <a:off x="831719" y="1269059"/>
            <a:ext cx="637678" cy="637678"/>
          </a:xfrm>
          <a:prstGeom prst="ellipse">
            <a:avLst/>
          </a:prstGeom>
          <a:solidFill>
            <a:schemeClr val="accent2">
              <a:alpha val="42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941339" y="1378679"/>
            <a:ext cx="418438" cy="418438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2049815" y="1246733"/>
            <a:ext cx="8753222" cy="613934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 rot="-5400000">
            <a:off x="1828611" y="1403890"/>
            <a:ext cx="263667" cy="299622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2049815" y="2921629"/>
            <a:ext cx="8753222" cy="613934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 rot="-5400000">
            <a:off x="1828611" y="3078785"/>
            <a:ext cx="263667" cy="299622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2049815" y="4596524"/>
            <a:ext cx="8753222" cy="613934"/>
          </a:xfrm>
          <a:prstGeom prst="round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 rot="-5400000">
            <a:off x="1828611" y="4753680"/>
            <a:ext cx="263667" cy="299622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TextBox 15"/>
          <p:cNvSpPr txBox="1"/>
          <p:nvPr/>
        </p:nvSpPr>
        <p:spPr>
          <a:xfrm>
            <a:off x="2260458" y="1202318"/>
            <a:ext cx="6813776" cy="69677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域渗透的概念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64864" y="1951021"/>
            <a:ext cx="8546354" cy="852821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域渗透是指攻击者利用系统漏洞或安全弱点，非法获取域管理权限，从而实现对整个域环境的完全控制。在信息化时代，域渗透已成为网络安全领域的一大挑战。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9913" y="2880543"/>
            <a:ext cx="6813776" cy="69677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域渗透攻击暴露面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64864" y="3605240"/>
            <a:ext cx="8519136" cy="852821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域</a:t>
            </a: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渗透攻击的暴露面主要包括弱口令、权限配置不当、ADFS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历史漏洞</a:t>
            </a: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、ADCS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历史漏洞</a:t>
            </a: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、DC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历史漏洞</a:t>
            </a: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和关键服务过度暴露等安全薄弱点。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4751" y="4561685"/>
            <a:ext cx="6813776" cy="69677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域渗透的防范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2283" y="5280135"/>
            <a:ext cx="8491918" cy="91632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为了有效防范域渗透，组织应强化系统安全漏洞的管理，及时修复已知漏洞；同时，提高员工的安全意识，确保敏感信息和域管理权限得到妥善保护。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31719" y="2921629"/>
            <a:ext cx="637678" cy="637678"/>
          </a:xfrm>
          <a:prstGeom prst="ellipse">
            <a:avLst/>
          </a:prstGeom>
          <a:solidFill>
            <a:schemeClr val="accent2">
              <a:alpha val="42000"/>
            </a:schemeClr>
          </a:solidFill>
        </p:spPr>
      </p:sp>
      <p:sp>
        <p:nvSpPr>
          <p:cNvPr id="22" name="AutoShape 22"/>
          <p:cNvSpPr/>
          <p:nvPr/>
        </p:nvSpPr>
        <p:spPr>
          <a:xfrm>
            <a:off x="941339" y="3031248"/>
            <a:ext cx="418438" cy="418438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3" name="AutoShape 23"/>
          <p:cNvSpPr/>
          <p:nvPr/>
        </p:nvSpPr>
        <p:spPr>
          <a:xfrm>
            <a:off x="831719" y="4596524"/>
            <a:ext cx="637678" cy="637678"/>
          </a:xfrm>
          <a:prstGeom prst="ellipse">
            <a:avLst/>
          </a:prstGeom>
          <a:solidFill>
            <a:schemeClr val="accent2">
              <a:alpha val="42000"/>
            </a:schemeClr>
          </a:solidFill>
        </p:spPr>
      </p:sp>
      <p:sp>
        <p:nvSpPr>
          <p:cNvPr id="24" name="AutoShape 24"/>
          <p:cNvSpPr/>
          <p:nvPr/>
        </p:nvSpPr>
        <p:spPr>
          <a:xfrm>
            <a:off x="941339" y="4706144"/>
            <a:ext cx="418438" cy="418438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00007" name="AutoShape 25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域渗透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7"/>
          <p:cNvSpPr txBox="1"/>
          <p:nvPr/>
        </p:nvSpPr>
        <p:spPr>
          <a:xfrm>
            <a:off x="4309813" y="1745227"/>
            <a:ext cx="3354898" cy="431915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365760" indent="-365760"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zh-CN" altLang="en-US" sz="2500" b="1" dirty="0">
                <a:solidFill>
                  <a:srgbClr val="F0F5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实战案例</a:t>
            </a:r>
          </a:p>
        </p:txBody>
      </p:sp>
      <p:sp>
        <p:nvSpPr>
          <p:cNvPr id="8" name="Content Placeholder 2"/>
          <p:cNvSpPr txBox="1"/>
          <p:nvPr/>
        </p:nvSpPr>
        <p:spPr bwMode="auto">
          <a:xfrm>
            <a:off x="4472248" y="2608052"/>
            <a:ext cx="3128068" cy="2072807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信息收集</a:t>
            </a:r>
            <a:endParaRPr lang="en-US" altLang="zh-CN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漏洞利用</a:t>
            </a: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权限提升</a:t>
            </a:r>
            <a:endParaRPr lang="en-US" altLang="zh-CN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横向移动</a:t>
            </a: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700" dirty="0">
                <a:solidFill>
                  <a:srgbClr val="F0F5FF"/>
                </a:solidFill>
                <a:latin typeface="微软雅黑" charset="-122"/>
                <a:ea typeface="微软雅黑" charset="-122"/>
                <a:cs typeface="Microsoft YaHei Light" panose="020B0503020204020204" charset="-122"/>
              </a:rPr>
              <a:t>域渗透</a:t>
            </a: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700" dirty="0">
              <a:solidFill>
                <a:srgbClr val="F0F5FF"/>
              </a:solidFill>
              <a:latin typeface="微软雅黑" charset="-122"/>
              <a:ea typeface="微软雅黑" charset="-122"/>
              <a:cs typeface="Microsoft YaHei Light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5280" y="2255260"/>
            <a:ext cx="2895515" cy="0"/>
          </a:xfrm>
          <a:prstGeom prst="line">
            <a:avLst/>
          </a:prstGeom>
          <a:ln>
            <a:solidFill>
              <a:srgbClr val="F8C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191" y="2361998"/>
            <a:ext cx="1393607" cy="20018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2110508" y="2835417"/>
            <a:ext cx="1946507" cy="253731"/>
          </a:xfrm>
          <a:custGeom>
            <a:avLst/>
            <a:gdLst/>
            <a:ahLst/>
            <a:cxnLst/>
            <a:rect l="l" t="t" r="r" b="b"/>
            <a:pathLst>
              <a:path w="7631" h="997">
                <a:moveTo>
                  <a:pt x="0" y="374"/>
                </a:moveTo>
                <a:lnTo>
                  <a:pt x="6883" y="374"/>
                </a:lnTo>
                <a:lnTo>
                  <a:pt x="6765" y="0"/>
                </a:lnTo>
                <a:lnTo>
                  <a:pt x="7631" y="498"/>
                </a:lnTo>
                <a:lnTo>
                  <a:pt x="6765" y="997"/>
                </a:lnTo>
                <a:lnTo>
                  <a:pt x="6883" y="622"/>
                </a:lnTo>
                <a:lnTo>
                  <a:pt x="0" y="622"/>
                </a:lnTo>
                <a:lnTo>
                  <a:pt x="0" y="374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7" name="Freeform 7"/>
          <p:cNvSpPr/>
          <p:nvPr/>
        </p:nvSpPr>
        <p:spPr>
          <a:xfrm>
            <a:off x="2110508" y="4137595"/>
            <a:ext cx="1946507" cy="255583"/>
          </a:xfrm>
          <a:custGeom>
            <a:avLst/>
            <a:gdLst/>
            <a:ahLst/>
            <a:cxnLst/>
            <a:rect l="l" t="t" r="r" b="b"/>
            <a:pathLst>
              <a:path w="7631" h="997">
                <a:moveTo>
                  <a:pt x="6883" y="375"/>
                </a:moveTo>
                <a:lnTo>
                  <a:pt x="6765" y="0"/>
                </a:lnTo>
                <a:lnTo>
                  <a:pt x="7631" y="499"/>
                </a:lnTo>
                <a:lnTo>
                  <a:pt x="6765" y="997"/>
                </a:lnTo>
                <a:lnTo>
                  <a:pt x="6883" y="623"/>
                </a:lnTo>
                <a:lnTo>
                  <a:pt x="0" y="623"/>
                </a:lnTo>
                <a:lnTo>
                  <a:pt x="0" y="375"/>
                </a:lnTo>
                <a:lnTo>
                  <a:pt x="6883" y="37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grpSp>
        <p:nvGrpSpPr>
          <p:cNvPr id="8" name="Group 8"/>
          <p:cNvGrpSpPr/>
          <p:nvPr/>
        </p:nvGrpSpPr>
        <p:grpSpPr>
          <a:xfrm>
            <a:off x="2110508" y="1491942"/>
            <a:ext cx="1946504" cy="4243785"/>
            <a:chOff x="2110508" y="1491942"/>
            <a:chExt cx="1946504" cy="4243785"/>
          </a:xfrm>
        </p:grpSpPr>
        <p:sp>
          <p:nvSpPr>
            <p:cNvPr id="9" name="Freeform 9"/>
            <p:cNvSpPr/>
            <p:nvPr/>
          </p:nvSpPr>
          <p:spPr>
            <a:xfrm>
              <a:off x="2110508" y="1704922"/>
              <a:ext cx="170389" cy="1357553"/>
            </a:xfrm>
            <a:custGeom>
              <a:avLst/>
              <a:gdLst/>
              <a:ahLst/>
              <a:cxnLst/>
              <a:rect l="l" t="t" r="r" b="b"/>
              <a:pathLst>
                <a:path w="669" h="5308">
                  <a:moveTo>
                    <a:pt x="669" y="182"/>
                  </a:moveTo>
                  <a:cubicBezTo>
                    <a:pt x="415" y="431"/>
                    <a:pt x="256" y="778"/>
                    <a:pt x="256" y="1160"/>
                  </a:cubicBezTo>
                  <a:lnTo>
                    <a:pt x="256" y="5308"/>
                  </a:lnTo>
                  <a:lnTo>
                    <a:pt x="0" y="5308"/>
                  </a:lnTo>
                  <a:lnTo>
                    <a:pt x="0" y="1148"/>
                  </a:lnTo>
                  <a:cubicBezTo>
                    <a:pt x="0" y="699"/>
                    <a:pt x="187" y="292"/>
                    <a:pt x="486" y="0"/>
                  </a:cubicBezTo>
                  <a:lnTo>
                    <a:pt x="669" y="18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234593" y="1491942"/>
              <a:ext cx="1822419" cy="259287"/>
            </a:xfrm>
            <a:custGeom>
              <a:avLst/>
              <a:gdLst/>
              <a:ahLst/>
              <a:cxnLst/>
              <a:rect l="l" t="t" r="r" b="b"/>
              <a:pathLst>
                <a:path w="7145" h="1015">
                  <a:moveTo>
                    <a:pt x="6397" y="375"/>
                  </a:moveTo>
                  <a:lnTo>
                    <a:pt x="6279" y="0"/>
                  </a:lnTo>
                  <a:lnTo>
                    <a:pt x="7145" y="499"/>
                  </a:lnTo>
                  <a:lnTo>
                    <a:pt x="6279" y="997"/>
                  </a:lnTo>
                  <a:lnTo>
                    <a:pt x="6397" y="623"/>
                  </a:lnTo>
                  <a:lnTo>
                    <a:pt x="1140" y="623"/>
                  </a:lnTo>
                  <a:cubicBezTo>
                    <a:pt x="769" y="623"/>
                    <a:pt x="430" y="773"/>
                    <a:pt x="183" y="1015"/>
                  </a:cubicBezTo>
                  <a:lnTo>
                    <a:pt x="0" y="833"/>
                  </a:lnTo>
                  <a:cubicBezTo>
                    <a:pt x="290" y="550"/>
                    <a:pt x="686" y="375"/>
                    <a:pt x="1120" y="375"/>
                  </a:cubicBezTo>
                  <a:lnTo>
                    <a:pt x="6397" y="375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110508" y="4165181"/>
              <a:ext cx="170389" cy="1357553"/>
            </a:xfrm>
            <a:custGeom>
              <a:avLst/>
              <a:gdLst/>
              <a:ahLst/>
              <a:cxnLst/>
              <a:rect l="l" t="t" r="r" b="b"/>
              <a:pathLst>
                <a:path w="669" h="5309">
                  <a:moveTo>
                    <a:pt x="256" y="0"/>
                  </a:moveTo>
                  <a:lnTo>
                    <a:pt x="256" y="4149"/>
                  </a:lnTo>
                  <a:cubicBezTo>
                    <a:pt x="256" y="4531"/>
                    <a:pt x="415" y="4878"/>
                    <a:pt x="669" y="5127"/>
                  </a:cubicBezTo>
                  <a:lnTo>
                    <a:pt x="486" y="5309"/>
                  </a:lnTo>
                  <a:cubicBezTo>
                    <a:pt x="187" y="5017"/>
                    <a:pt x="0" y="4610"/>
                    <a:pt x="0" y="4161"/>
                  </a:cubicBezTo>
                  <a:lnTo>
                    <a:pt x="0" y="0"/>
                  </a:lnTo>
                  <a:lnTo>
                    <a:pt x="256" y="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234593" y="5474589"/>
              <a:ext cx="1822419" cy="261138"/>
            </a:xfrm>
            <a:custGeom>
              <a:avLst/>
              <a:gdLst/>
              <a:ahLst/>
              <a:cxnLst/>
              <a:rect l="l" t="t" r="r" b="b"/>
              <a:pathLst>
                <a:path w="7145" h="1015">
                  <a:moveTo>
                    <a:pt x="6397" y="392"/>
                  </a:moveTo>
                  <a:lnTo>
                    <a:pt x="6279" y="18"/>
                  </a:lnTo>
                  <a:lnTo>
                    <a:pt x="7145" y="516"/>
                  </a:lnTo>
                  <a:lnTo>
                    <a:pt x="6279" y="1015"/>
                  </a:lnTo>
                  <a:lnTo>
                    <a:pt x="6397" y="640"/>
                  </a:lnTo>
                  <a:lnTo>
                    <a:pt x="1120" y="640"/>
                  </a:lnTo>
                  <a:cubicBezTo>
                    <a:pt x="686" y="640"/>
                    <a:pt x="290" y="465"/>
                    <a:pt x="0" y="182"/>
                  </a:cubicBezTo>
                  <a:lnTo>
                    <a:pt x="183" y="0"/>
                  </a:lnTo>
                  <a:cubicBezTo>
                    <a:pt x="430" y="242"/>
                    <a:pt x="769" y="392"/>
                    <a:pt x="1140" y="392"/>
                  </a:cubicBezTo>
                  <a:lnTo>
                    <a:pt x="6397" y="39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3" name="AutoShape 13"/>
          <p:cNvSpPr/>
          <p:nvPr/>
        </p:nvSpPr>
        <p:spPr>
          <a:xfrm>
            <a:off x="1115656" y="2618983"/>
            <a:ext cx="1989704" cy="1989704"/>
          </a:xfrm>
          <a:prstGeom prst="ellipse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grpSp>
        <p:nvGrpSpPr>
          <p:cNvPr id="14" name="Group 14"/>
          <p:cNvGrpSpPr/>
          <p:nvPr/>
        </p:nvGrpSpPr>
        <p:grpSpPr>
          <a:xfrm>
            <a:off x="1712267" y="3146507"/>
            <a:ext cx="887206" cy="880220"/>
            <a:chOff x="1712267" y="3146507"/>
            <a:chExt cx="887206" cy="880220"/>
          </a:xfrm>
        </p:grpSpPr>
        <p:sp>
          <p:nvSpPr>
            <p:cNvPr id="15" name="Freeform 15"/>
            <p:cNvSpPr/>
            <p:nvPr/>
          </p:nvSpPr>
          <p:spPr>
            <a:xfrm>
              <a:off x="1884102" y="3395458"/>
              <a:ext cx="459435" cy="455896"/>
            </a:xfrm>
            <a:custGeom>
              <a:avLst/>
              <a:gdLst/>
              <a:ahLst/>
              <a:cxnLst/>
              <a:rect l="l" t="t" r="r" b="b"/>
              <a:pathLst>
                <a:path w="55" h="55">
                  <a:moveTo>
                    <a:pt x="47" y="27"/>
                  </a:moveTo>
                  <a:cubicBezTo>
                    <a:pt x="47" y="38"/>
                    <a:pt x="38" y="46"/>
                    <a:pt x="28" y="46"/>
                  </a:cubicBezTo>
                  <a:cubicBezTo>
                    <a:pt x="18" y="46"/>
                    <a:pt x="9" y="38"/>
                    <a:pt x="9" y="27"/>
                  </a:cubicBezTo>
                  <a:cubicBezTo>
                    <a:pt x="9" y="17"/>
                    <a:pt x="18" y="9"/>
                    <a:pt x="28" y="9"/>
                  </a:cubicBezTo>
                  <a:cubicBezTo>
                    <a:pt x="31" y="9"/>
                    <a:pt x="35" y="10"/>
                    <a:pt x="38" y="11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9" y="2"/>
                    <a:pt x="34" y="0"/>
                    <a:pt x="28" y="0"/>
                  </a:cubicBezTo>
                  <a:cubicBezTo>
                    <a:pt x="13" y="0"/>
                    <a:pt x="0" y="12"/>
                    <a:pt x="0" y="27"/>
                  </a:cubicBezTo>
                  <a:cubicBezTo>
                    <a:pt x="0" y="43"/>
                    <a:pt x="13" y="55"/>
                    <a:pt x="28" y="55"/>
                  </a:cubicBezTo>
                  <a:cubicBezTo>
                    <a:pt x="43" y="55"/>
                    <a:pt x="55" y="43"/>
                    <a:pt x="55" y="27"/>
                  </a:cubicBezTo>
                  <a:cubicBezTo>
                    <a:pt x="55" y="21"/>
                    <a:pt x="53" y="16"/>
                    <a:pt x="50" y="11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6" y="21"/>
                    <a:pt x="47" y="24"/>
                    <a:pt x="47" y="27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045412" y="3553320"/>
              <a:ext cx="147248" cy="140262"/>
            </a:xfrm>
            <a:custGeom>
              <a:avLst/>
              <a:gdLst/>
              <a:ahLst/>
              <a:cxnLst/>
              <a:rect l="l" t="t" r="r" b="b"/>
              <a:pathLst>
                <a:path w="18" h="17">
                  <a:moveTo>
                    <a:pt x="12" y="0"/>
                  </a:moveTo>
                  <a:cubicBezTo>
                    <a:pt x="11" y="0"/>
                    <a:pt x="10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7"/>
                    <a:pt x="17" y="6"/>
                    <a:pt x="17" y="5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12" y="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712267" y="3220176"/>
              <a:ext cx="813627" cy="806551"/>
            </a:xfrm>
            <a:custGeom>
              <a:avLst/>
              <a:gdLst/>
              <a:ahLst/>
              <a:cxnLst/>
              <a:rect l="l" t="t" r="r" b="b"/>
              <a:pathLst>
                <a:path w="98" h="97">
                  <a:moveTo>
                    <a:pt x="82" y="22"/>
                  </a:moveTo>
                  <a:cubicBezTo>
                    <a:pt x="80" y="23"/>
                    <a:pt x="80" y="23"/>
                    <a:pt x="80" y="23"/>
                  </a:cubicBezTo>
                  <a:cubicBezTo>
                    <a:pt x="86" y="30"/>
                    <a:pt x="89" y="39"/>
                    <a:pt x="89" y="48"/>
                  </a:cubicBezTo>
                  <a:cubicBezTo>
                    <a:pt x="89" y="71"/>
                    <a:pt x="71" y="88"/>
                    <a:pt x="49" y="88"/>
                  </a:cubicBezTo>
                  <a:cubicBezTo>
                    <a:pt x="27" y="88"/>
                    <a:pt x="9" y="71"/>
                    <a:pt x="9" y="48"/>
                  </a:cubicBezTo>
                  <a:cubicBezTo>
                    <a:pt x="9" y="26"/>
                    <a:pt x="27" y="8"/>
                    <a:pt x="49" y="8"/>
                  </a:cubicBezTo>
                  <a:cubicBezTo>
                    <a:pt x="58" y="8"/>
                    <a:pt x="67" y="12"/>
                    <a:pt x="74" y="17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68" y="3"/>
                    <a:pt x="59" y="0"/>
                    <a:pt x="49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6" y="97"/>
                    <a:pt x="98" y="75"/>
                    <a:pt x="98" y="48"/>
                  </a:cubicBezTo>
                  <a:cubicBezTo>
                    <a:pt x="98" y="38"/>
                    <a:pt x="95" y="29"/>
                    <a:pt x="89" y="21"/>
                  </a:cubicBezTo>
                  <a:lnTo>
                    <a:pt x="82" y="22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119081" y="3146507"/>
              <a:ext cx="480392" cy="473406"/>
            </a:xfrm>
            <a:custGeom>
              <a:avLst/>
              <a:gdLst/>
              <a:ahLst/>
              <a:cxnLst/>
              <a:rect l="l" t="t" r="r" b="b"/>
              <a:pathLst>
                <a:path w="137" h="135">
                  <a:moveTo>
                    <a:pt x="104" y="30"/>
                  </a:moveTo>
                  <a:lnTo>
                    <a:pt x="106" y="0"/>
                  </a:lnTo>
                  <a:lnTo>
                    <a:pt x="87" y="16"/>
                  </a:lnTo>
                  <a:lnTo>
                    <a:pt x="71" y="35"/>
                  </a:lnTo>
                  <a:lnTo>
                    <a:pt x="69" y="59"/>
                  </a:lnTo>
                  <a:lnTo>
                    <a:pt x="40" y="90"/>
                  </a:lnTo>
                  <a:lnTo>
                    <a:pt x="14" y="116"/>
                  </a:lnTo>
                  <a:lnTo>
                    <a:pt x="0" y="135"/>
                  </a:lnTo>
                  <a:lnTo>
                    <a:pt x="19" y="123"/>
                  </a:lnTo>
                  <a:lnTo>
                    <a:pt x="45" y="97"/>
                  </a:lnTo>
                  <a:lnTo>
                    <a:pt x="76" y="66"/>
                  </a:lnTo>
                  <a:lnTo>
                    <a:pt x="102" y="66"/>
                  </a:lnTo>
                  <a:lnTo>
                    <a:pt x="118" y="47"/>
                  </a:lnTo>
                  <a:lnTo>
                    <a:pt x="137" y="30"/>
                  </a:lnTo>
                  <a:lnTo>
                    <a:pt x="104" y="30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9" name="AutoShape 19"/>
          <p:cNvSpPr/>
          <p:nvPr/>
        </p:nvSpPr>
        <p:spPr>
          <a:xfrm>
            <a:off x="4224818" y="1474716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20" name="AutoShape 20"/>
          <p:cNvSpPr/>
          <p:nvPr/>
        </p:nvSpPr>
        <p:spPr>
          <a:xfrm>
            <a:off x="4224818" y="1057734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21" name="TextBox 21"/>
          <p:cNvSpPr txBox="1"/>
          <p:nvPr/>
        </p:nvSpPr>
        <p:spPr>
          <a:xfrm>
            <a:off x="4376033" y="1056135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指纹扫描与系统版本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76033" y="1474716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我们使用指纹扫描技术来确定目标设备的操作系统版本，这一步骤对于精确后续的攻击至关重要。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4224818" y="2777820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24" name="AutoShape 24"/>
          <p:cNvSpPr/>
          <p:nvPr/>
        </p:nvSpPr>
        <p:spPr>
          <a:xfrm>
            <a:off x="4224818" y="2360837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4376033" y="2359239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漏洞挖掘与利用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76033" y="2777820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在确定了操作系统版本后，我们利用已知的漏洞（如Thinkphp 5.0.23的命令执行漏洞）来快速获取目标系统的控制权限。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4224818" y="4080924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28" name="AutoShape 28"/>
          <p:cNvSpPr/>
          <p:nvPr/>
        </p:nvSpPr>
        <p:spPr>
          <a:xfrm>
            <a:off x="4224818" y="3663941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29" name="TextBox 29"/>
          <p:cNvSpPr txBox="1"/>
          <p:nvPr/>
        </p:nvSpPr>
        <p:spPr>
          <a:xfrm>
            <a:off x="4376033" y="3662343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端口与服务识别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76033" y="4080924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通过开放端口的扫描，我们识别了目标系统上的各种服务，如SSH、MySQL等，这为我们提供了进一步利用这些服务的机会。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4224818" y="5384028"/>
            <a:ext cx="5994147" cy="787505"/>
          </a:xfrm>
          <a:prstGeom prst="rect">
            <a:avLst/>
          </a:prstGeom>
          <a:solidFill>
            <a:schemeClr val="accent1">
              <a:alpha val="100000"/>
              <a:lumMod val="20000"/>
              <a:lumOff val="80000"/>
            </a:schemeClr>
          </a:solidFill>
        </p:spPr>
      </p:sp>
      <p:sp>
        <p:nvSpPr>
          <p:cNvPr id="32" name="AutoShape 32"/>
          <p:cNvSpPr/>
          <p:nvPr/>
        </p:nvSpPr>
        <p:spPr>
          <a:xfrm>
            <a:off x="4224818" y="4967045"/>
            <a:ext cx="5994147" cy="465444"/>
          </a:xfrm>
          <a:prstGeom prst="rect">
            <a:avLst/>
          </a:prstGeom>
          <a:solidFill>
            <a:schemeClr val="accent1">
              <a:alpha val="100000"/>
              <a:lumMod val="40000"/>
              <a:lumOff val="60000"/>
            </a:schemeClr>
          </a:solidFill>
        </p:spPr>
      </p:sp>
      <p:sp>
        <p:nvSpPr>
          <p:cNvPr id="33" name="TextBox 33"/>
          <p:cNvSpPr txBox="1"/>
          <p:nvPr/>
        </p:nvSpPr>
        <p:spPr>
          <a:xfrm>
            <a:off x="4376033" y="4965447"/>
            <a:ext cx="5544016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网络架构与主机发现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76033" y="5384028"/>
            <a:ext cx="5628971" cy="76461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25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使用ICMP存活主机探测技术，我们绘制了目标网络的内网架构，并发现了多个存活的主机，为进一步的渗透测试提供了目标。</a:t>
            </a:r>
          </a:p>
        </p:txBody>
      </p:sp>
      <p:sp>
        <p:nvSpPr>
          <p:cNvPr id="400007" name="AutoShape 35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信息收集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3414522" y="2428875"/>
            <a:ext cx="5465731" cy="4429506"/>
            <a:chOff x="3414522" y="2428875"/>
            <a:chExt cx="5465731" cy="4429506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414522" y="2531459"/>
              <a:ext cx="5465731" cy="4326922"/>
            </a:xfrm>
            <a:prstGeom prst="rect">
              <a:avLst/>
            </a:prstGeom>
          </p:spPr>
        </p:pic>
        <p:sp>
          <p:nvSpPr>
            <p:cNvPr id="8" name="AutoShape 8"/>
            <p:cNvSpPr/>
            <p:nvPr/>
          </p:nvSpPr>
          <p:spPr>
            <a:xfrm rot="5400000">
              <a:off x="5083588" y="2428875"/>
              <a:ext cx="2157222" cy="3839813"/>
            </a:xfrm>
            <a:prstGeom prst="rtTriangle">
              <a:avLst/>
            </a:prstGeom>
            <a:solidFill>
              <a:schemeClr val="accent1">
                <a:alpha val="100000"/>
                <a:lumMod val="20000"/>
                <a:lumOff val="80000"/>
              </a:schemeClr>
            </a:solidFill>
          </p:spPr>
        </p:sp>
        <p:sp>
          <p:nvSpPr>
            <p:cNvPr id="9" name="AutoShape 9"/>
            <p:cNvSpPr/>
            <p:nvPr/>
          </p:nvSpPr>
          <p:spPr>
            <a:xfrm rot="16200000">
              <a:off x="5083588" y="2428875"/>
              <a:ext cx="2157222" cy="3839813"/>
            </a:xfrm>
            <a:prstGeom prst="rtTriangle">
              <a:avLst/>
            </a:prstGeom>
            <a:solidFill>
              <a:schemeClr val="accent1">
                <a:alpha val="100000"/>
                <a:lumMod val="40000"/>
                <a:lumOff val="60000"/>
              </a:schemeClr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2849314" y="1714331"/>
            <a:ext cx="1062671" cy="1062671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8113983" y="1470891"/>
            <a:ext cx="1062671" cy="1062671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 rot="19996312">
            <a:off x="8264280" y="2461589"/>
            <a:ext cx="330233" cy="330233"/>
          </a:xfrm>
          <a:prstGeom prst="rt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 rot="16200000">
            <a:off x="3670661" y="2533563"/>
            <a:ext cx="330233" cy="330233"/>
          </a:xfrm>
          <a:prstGeom prst="rtTriangle">
            <a:avLst/>
          </a:prstGeom>
          <a:solidFill>
            <a:schemeClr val="accent1">
              <a:alpha val="100000"/>
            </a:schemeClr>
          </a:solidFill>
        </p:spPr>
      </p:sp>
      <p:grpSp>
        <p:nvGrpSpPr>
          <p:cNvPr id="18" name="Group 18"/>
          <p:cNvGrpSpPr/>
          <p:nvPr/>
        </p:nvGrpSpPr>
        <p:grpSpPr>
          <a:xfrm>
            <a:off x="2436781" y="4104989"/>
            <a:ext cx="450342" cy="450342"/>
            <a:chOff x="2436781" y="4104989"/>
            <a:chExt cx="450342" cy="450342"/>
          </a:xfrm>
        </p:grpSpPr>
        <p:sp>
          <p:nvSpPr>
            <p:cNvPr id="19" name="Freeform 19"/>
            <p:cNvSpPr/>
            <p:nvPr/>
          </p:nvSpPr>
          <p:spPr>
            <a:xfrm>
              <a:off x="2436781" y="4104989"/>
              <a:ext cx="450342" cy="450342"/>
            </a:xfrm>
            <a:custGeom>
              <a:avLst/>
              <a:gdLst/>
              <a:ahLst/>
              <a:cxnLst/>
              <a:rect l="l" t="t" r="r" b="b"/>
              <a:pathLst>
                <a:path w="289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4" y="288"/>
                    <a:pt x="289" y="223"/>
                    <a:pt x="289" y="144"/>
                  </a:cubicBezTo>
                  <a:cubicBezTo>
                    <a:pt x="289" y="64"/>
                    <a:pt x="224" y="0"/>
                    <a:pt x="144" y="0"/>
                  </a:cubicBezTo>
                  <a:close/>
                </a:path>
                <a:path w="289" h="288">
                  <a:moveTo>
                    <a:pt x="144" y="252"/>
                  </a:moveTo>
                  <a:cubicBezTo>
                    <a:pt x="85" y="252"/>
                    <a:pt x="36" y="203"/>
                    <a:pt x="36" y="144"/>
                  </a:cubicBezTo>
                  <a:cubicBezTo>
                    <a:pt x="36" y="84"/>
                    <a:pt x="85" y="36"/>
                    <a:pt x="144" y="36"/>
                  </a:cubicBezTo>
                  <a:cubicBezTo>
                    <a:pt x="204" y="36"/>
                    <a:pt x="253" y="84"/>
                    <a:pt x="253" y="144"/>
                  </a:cubicBezTo>
                  <a:cubicBezTo>
                    <a:pt x="253" y="203"/>
                    <a:pt x="204" y="252"/>
                    <a:pt x="144" y="252"/>
                  </a:cubicBezTo>
                </a:path>
              </a:pathLst>
            </a:custGeom>
            <a:solidFill>
              <a:srgbClr val="FFFEFE">
                <a:alpha val="100000"/>
              </a:srgb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30221" y="4198429"/>
              <a:ext cx="266414" cy="266414"/>
            </a:xfrm>
            <a:custGeom>
              <a:avLst/>
              <a:gdLst/>
              <a:ahLst/>
              <a:cxnLst/>
              <a:rect l="l" t="t" r="r" b="b"/>
              <a:pathLst>
                <a:path w="172" h="172">
                  <a:moveTo>
                    <a:pt x="86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3"/>
                    <a:pt x="38" y="172"/>
                    <a:pt x="86" y="172"/>
                  </a:cubicBezTo>
                  <a:cubicBezTo>
                    <a:pt x="133" y="172"/>
                    <a:pt x="172" y="133"/>
                    <a:pt x="172" y="86"/>
                  </a:cubicBezTo>
                  <a:cubicBezTo>
                    <a:pt x="172" y="38"/>
                    <a:pt x="133" y="0"/>
                    <a:pt x="86" y="0"/>
                  </a:cubicBezTo>
                  <a:close/>
                </a:path>
                <a:path w="172" h="172">
                  <a:moveTo>
                    <a:pt x="63" y="58"/>
                  </a:moveTo>
                  <a:cubicBezTo>
                    <a:pt x="53" y="67"/>
                    <a:pt x="43" y="85"/>
                    <a:pt x="39" y="93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4" y="81"/>
                    <a:pt x="24" y="80"/>
                    <a:pt x="24" y="79"/>
                  </a:cubicBezTo>
                  <a:cubicBezTo>
                    <a:pt x="24" y="51"/>
                    <a:pt x="55" y="20"/>
                    <a:pt x="83" y="20"/>
                  </a:cubicBezTo>
                  <a:cubicBezTo>
                    <a:pt x="84" y="20"/>
                    <a:pt x="86" y="20"/>
                    <a:pt x="87" y="20"/>
                  </a:cubicBezTo>
                  <a:cubicBezTo>
                    <a:pt x="97" y="34"/>
                    <a:pt x="97" y="34"/>
                    <a:pt x="97" y="34"/>
                  </a:cubicBezTo>
                  <a:cubicBezTo>
                    <a:pt x="88" y="39"/>
                    <a:pt x="74" y="46"/>
                    <a:pt x="63" y="58"/>
                  </a:cubicBezTo>
                  <a:close/>
                </a:path>
                <a:path w="172" h="172">
                  <a:moveTo>
                    <a:pt x="112" y="128"/>
                  </a:moveTo>
                  <a:cubicBezTo>
                    <a:pt x="104" y="128"/>
                    <a:pt x="98" y="122"/>
                    <a:pt x="98" y="114"/>
                  </a:cubicBezTo>
                  <a:cubicBezTo>
                    <a:pt x="98" y="106"/>
                    <a:pt x="104" y="100"/>
                    <a:pt x="112" y="100"/>
                  </a:cubicBezTo>
                  <a:cubicBezTo>
                    <a:pt x="119" y="100"/>
                    <a:pt x="126" y="106"/>
                    <a:pt x="126" y="114"/>
                  </a:cubicBezTo>
                  <a:cubicBezTo>
                    <a:pt x="126" y="122"/>
                    <a:pt x="119" y="128"/>
                    <a:pt x="112" y="128"/>
                  </a:cubicBezTo>
                </a:path>
              </a:pathLst>
            </a:custGeom>
            <a:solidFill>
              <a:srgbClr val="FFFEFE">
                <a:alpha val="100000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119694" y="4655430"/>
            <a:ext cx="381761" cy="447579"/>
            <a:chOff x="9119694" y="4655430"/>
            <a:chExt cx="381761" cy="447579"/>
          </a:xfrm>
        </p:grpSpPr>
        <p:sp>
          <p:nvSpPr>
            <p:cNvPr id="22" name="Freeform 22"/>
            <p:cNvSpPr/>
            <p:nvPr/>
          </p:nvSpPr>
          <p:spPr>
            <a:xfrm>
              <a:off x="9193893" y="4655430"/>
              <a:ext cx="307562" cy="258128"/>
            </a:xfrm>
            <a:custGeom>
              <a:avLst/>
              <a:gdLst/>
              <a:ahLst/>
              <a:cxnLst/>
              <a:rect l="l" t="t" r="r" b="b"/>
              <a:pathLst>
                <a:path w="196" h="167">
                  <a:moveTo>
                    <a:pt x="134" y="102"/>
                  </a:moveTo>
                  <a:cubicBezTo>
                    <a:pt x="134" y="87"/>
                    <a:pt x="196" y="34"/>
                    <a:pt x="196" y="34"/>
                  </a:cubicBezTo>
                  <a:cubicBezTo>
                    <a:pt x="164" y="48"/>
                    <a:pt x="117" y="44"/>
                    <a:pt x="76" y="22"/>
                  </a:cubicBezTo>
                  <a:cubicBezTo>
                    <a:pt x="35" y="0"/>
                    <a:pt x="0" y="2"/>
                    <a:pt x="0" y="2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" y="136"/>
                    <a:pt x="11" y="133"/>
                    <a:pt x="39" y="135"/>
                  </a:cubicBezTo>
                  <a:cubicBezTo>
                    <a:pt x="73" y="139"/>
                    <a:pt x="160" y="167"/>
                    <a:pt x="191" y="160"/>
                  </a:cubicBezTo>
                  <a:cubicBezTo>
                    <a:pt x="191" y="160"/>
                    <a:pt x="134" y="112"/>
                    <a:pt x="134" y="102"/>
                  </a:cubicBezTo>
                </a:path>
              </a:pathLst>
            </a:custGeom>
            <a:solidFill>
              <a:srgbClr val="FFFEFE">
                <a:alpha val="100000"/>
              </a:srgbClr>
            </a:solidFill>
          </p:spPr>
        </p:sp>
        <p:sp>
          <p:nvSpPr>
            <p:cNvPr id="23" name="AutoShape 23"/>
            <p:cNvSpPr/>
            <p:nvPr/>
          </p:nvSpPr>
          <p:spPr>
            <a:xfrm>
              <a:off x="9119694" y="4658096"/>
              <a:ext cx="38481" cy="444913"/>
            </a:xfrm>
            <a:prstGeom prst="rect">
              <a:avLst/>
            </a:prstGeom>
            <a:solidFill>
              <a:srgbClr val="FFFEFE">
                <a:alpha val="100000"/>
              </a:srgbClr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8446332" y="1777837"/>
            <a:ext cx="391623" cy="448778"/>
          </a:xfrm>
          <a:custGeom>
            <a:avLst/>
            <a:gdLst/>
            <a:ahLst/>
            <a:cxnLst/>
            <a:rect l="l" t="t" r="r" b="b"/>
            <a:pathLst>
              <a:path w="143" h="163">
                <a:moveTo>
                  <a:pt x="0" y="0"/>
                </a:moveTo>
                <a:lnTo>
                  <a:pt x="0" y="163"/>
                </a:lnTo>
                <a:lnTo>
                  <a:pt x="143" y="163"/>
                </a:lnTo>
                <a:lnTo>
                  <a:pt x="143" y="0"/>
                </a:lnTo>
                <a:lnTo>
                  <a:pt x="0" y="0"/>
                </a:lnTo>
                <a:close/>
              </a:path>
              <a:path w="143" h="163">
                <a:moveTo>
                  <a:pt x="22" y="151"/>
                </a:moveTo>
                <a:lnTo>
                  <a:pt x="8" y="151"/>
                </a:lnTo>
                <a:lnTo>
                  <a:pt x="8" y="137"/>
                </a:lnTo>
                <a:lnTo>
                  <a:pt x="22" y="137"/>
                </a:lnTo>
                <a:lnTo>
                  <a:pt x="22" y="151"/>
                </a:lnTo>
                <a:close/>
              </a:path>
              <a:path w="143" h="163">
                <a:moveTo>
                  <a:pt x="22" y="126"/>
                </a:moveTo>
                <a:lnTo>
                  <a:pt x="8" y="126"/>
                </a:lnTo>
                <a:lnTo>
                  <a:pt x="8" y="112"/>
                </a:lnTo>
                <a:lnTo>
                  <a:pt x="22" y="112"/>
                </a:lnTo>
                <a:lnTo>
                  <a:pt x="22" y="126"/>
                </a:lnTo>
                <a:close/>
              </a:path>
              <a:path w="143" h="163">
                <a:moveTo>
                  <a:pt x="22" y="101"/>
                </a:moveTo>
                <a:lnTo>
                  <a:pt x="8" y="101"/>
                </a:lnTo>
                <a:lnTo>
                  <a:pt x="8" y="87"/>
                </a:lnTo>
                <a:lnTo>
                  <a:pt x="22" y="87"/>
                </a:lnTo>
                <a:lnTo>
                  <a:pt x="22" y="101"/>
                </a:lnTo>
                <a:close/>
              </a:path>
              <a:path w="143" h="163">
                <a:moveTo>
                  <a:pt x="22" y="77"/>
                </a:moveTo>
                <a:lnTo>
                  <a:pt x="8" y="77"/>
                </a:lnTo>
                <a:lnTo>
                  <a:pt x="8" y="62"/>
                </a:lnTo>
                <a:lnTo>
                  <a:pt x="22" y="62"/>
                </a:lnTo>
                <a:lnTo>
                  <a:pt x="22" y="77"/>
                </a:lnTo>
                <a:close/>
              </a:path>
              <a:path w="143" h="163">
                <a:moveTo>
                  <a:pt x="22" y="52"/>
                </a:moveTo>
                <a:lnTo>
                  <a:pt x="8" y="52"/>
                </a:lnTo>
                <a:lnTo>
                  <a:pt x="8" y="37"/>
                </a:lnTo>
                <a:lnTo>
                  <a:pt x="22" y="37"/>
                </a:lnTo>
                <a:lnTo>
                  <a:pt x="22" y="52"/>
                </a:lnTo>
                <a:close/>
              </a:path>
              <a:path w="143" h="163">
                <a:moveTo>
                  <a:pt x="22" y="27"/>
                </a:moveTo>
                <a:lnTo>
                  <a:pt x="8" y="27"/>
                </a:lnTo>
                <a:lnTo>
                  <a:pt x="8" y="12"/>
                </a:lnTo>
                <a:lnTo>
                  <a:pt x="22" y="12"/>
                </a:lnTo>
                <a:lnTo>
                  <a:pt x="22" y="27"/>
                </a:lnTo>
                <a:close/>
              </a:path>
              <a:path w="143" h="163">
                <a:moveTo>
                  <a:pt x="112" y="143"/>
                </a:moveTo>
                <a:lnTo>
                  <a:pt x="30" y="143"/>
                </a:lnTo>
                <a:lnTo>
                  <a:pt x="30" y="91"/>
                </a:lnTo>
                <a:lnTo>
                  <a:pt x="112" y="91"/>
                </a:lnTo>
                <a:lnTo>
                  <a:pt x="112" y="143"/>
                </a:lnTo>
                <a:close/>
              </a:path>
              <a:path w="143" h="163">
                <a:moveTo>
                  <a:pt x="112" y="71"/>
                </a:moveTo>
                <a:lnTo>
                  <a:pt x="30" y="71"/>
                </a:lnTo>
                <a:lnTo>
                  <a:pt x="30" y="20"/>
                </a:lnTo>
                <a:lnTo>
                  <a:pt x="112" y="20"/>
                </a:lnTo>
                <a:lnTo>
                  <a:pt x="112" y="71"/>
                </a:lnTo>
                <a:close/>
              </a:path>
              <a:path w="143" h="163">
                <a:moveTo>
                  <a:pt x="135" y="151"/>
                </a:moveTo>
                <a:lnTo>
                  <a:pt x="121" y="151"/>
                </a:lnTo>
                <a:lnTo>
                  <a:pt x="121" y="137"/>
                </a:lnTo>
                <a:lnTo>
                  <a:pt x="135" y="137"/>
                </a:lnTo>
                <a:lnTo>
                  <a:pt x="135" y="151"/>
                </a:lnTo>
                <a:close/>
              </a:path>
              <a:path w="143" h="163">
                <a:moveTo>
                  <a:pt x="135" y="126"/>
                </a:moveTo>
                <a:lnTo>
                  <a:pt x="121" y="126"/>
                </a:lnTo>
                <a:lnTo>
                  <a:pt x="121" y="112"/>
                </a:lnTo>
                <a:lnTo>
                  <a:pt x="135" y="112"/>
                </a:lnTo>
                <a:lnTo>
                  <a:pt x="135" y="126"/>
                </a:lnTo>
                <a:close/>
              </a:path>
              <a:path w="143" h="163">
                <a:moveTo>
                  <a:pt x="135" y="101"/>
                </a:moveTo>
                <a:lnTo>
                  <a:pt x="121" y="101"/>
                </a:lnTo>
                <a:lnTo>
                  <a:pt x="121" y="87"/>
                </a:lnTo>
                <a:lnTo>
                  <a:pt x="135" y="87"/>
                </a:lnTo>
                <a:lnTo>
                  <a:pt x="135" y="101"/>
                </a:lnTo>
                <a:close/>
              </a:path>
              <a:path w="143" h="163">
                <a:moveTo>
                  <a:pt x="135" y="77"/>
                </a:moveTo>
                <a:lnTo>
                  <a:pt x="121" y="77"/>
                </a:lnTo>
                <a:lnTo>
                  <a:pt x="121" y="62"/>
                </a:lnTo>
                <a:lnTo>
                  <a:pt x="135" y="62"/>
                </a:lnTo>
                <a:lnTo>
                  <a:pt x="135" y="77"/>
                </a:lnTo>
                <a:close/>
              </a:path>
              <a:path w="143" h="163">
                <a:moveTo>
                  <a:pt x="135" y="52"/>
                </a:moveTo>
                <a:lnTo>
                  <a:pt x="121" y="52"/>
                </a:lnTo>
                <a:lnTo>
                  <a:pt x="121" y="37"/>
                </a:lnTo>
                <a:lnTo>
                  <a:pt x="135" y="37"/>
                </a:lnTo>
                <a:lnTo>
                  <a:pt x="135" y="52"/>
                </a:lnTo>
                <a:close/>
              </a:path>
              <a:path w="143" h="163">
                <a:moveTo>
                  <a:pt x="135" y="27"/>
                </a:moveTo>
                <a:lnTo>
                  <a:pt x="121" y="27"/>
                </a:lnTo>
                <a:lnTo>
                  <a:pt x="121" y="12"/>
                </a:lnTo>
                <a:lnTo>
                  <a:pt x="135" y="12"/>
                </a:lnTo>
                <a:lnTo>
                  <a:pt x="135" y="27"/>
                </a:lnTo>
              </a:path>
            </a:pathLst>
          </a:custGeom>
          <a:solidFill>
            <a:srgbClr val="FFFEFE">
              <a:alpha val="100000"/>
            </a:srgbClr>
          </a:solidFill>
        </p:spPr>
      </p:sp>
      <p:grpSp>
        <p:nvGrpSpPr>
          <p:cNvPr id="25" name="Group 25"/>
          <p:cNvGrpSpPr/>
          <p:nvPr/>
        </p:nvGrpSpPr>
        <p:grpSpPr>
          <a:xfrm>
            <a:off x="3140012" y="1942909"/>
            <a:ext cx="480631" cy="461391"/>
            <a:chOff x="3140012" y="1942909"/>
            <a:chExt cx="480631" cy="461391"/>
          </a:xfrm>
        </p:grpSpPr>
        <p:sp>
          <p:nvSpPr>
            <p:cNvPr id="26" name="Freeform 26"/>
            <p:cNvSpPr/>
            <p:nvPr/>
          </p:nvSpPr>
          <p:spPr>
            <a:xfrm>
              <a:off x="3461290" y="2135219"/>
              <a:ext cx="16478" cy="19050"/>
            </a:xfrm>
            <a:custGeom>
              <a:avLst/>
              <a:gdLst/>
              <a:ahLst/>
              <a:cxnLst/>
              <a:rect l="l" t="t" r="r" b="b"/>
              <a:pathLst>
                <a:path w="11" h="19050">
                  <a:moveTo>
                    <a:pt x="11" y="0"/>
                  </a:moveTo>
                  <a:cubicBezTo>
                    <a:pt x="8" y="0"/>
                    <a:pt x="4" y="0"/>
                    <a:pt x="0" y="0"/>
                  </a:cubicBezTo>
                  <a:cubicBezTo>
                    <a:pt x="3" y="0"/>
                    <a:pt x="7" y="0"/>
                    <a:pt x="11" y="0"/>
                  </a:cubicBezTo>
                </a:path>
              </a:pathLst>
            </a:custGeom>
            <a:solidFill>
              <a:srgbClr val="FFFEFE">
                <a:alpha val="100000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3140012" y="1942909"/>
              <a:ext cx="480631" cy="461391"/>
            </a:xfrm>
            <a:custGeom>
              <a:avLst/>
              <a:gdLst/>
              <a:ahLst/>
              <a:cxnLst/>
              <a:rect l="l" t="t" r="r" b="b"/>
              <a:pathLst>
                <a:path w="308" h="296">
                  <a:moveTo>
                    <a:pt x="228" y="218"/>
                  </a:moveTo>
                  <a:cubicBezTo>
                    <a:pt x="224" y="215"/>
                    <a:pt x="224" y="215"/>
                    <a:pt x="224" y="215"/>
                  </a:cubicBezTo>
                  <a:cubicBezTo>
                    <a:pt x="228" y="212"/>
                    <a:pt x="228" y="212"/>
                    <a:pt x="228" y="212"/>
                  </a:cubicBezTo>
                  <a:cubicBezTo>
                    <a:pt x="230" y="212"/>
                    <a:pt x="230" y="212"/>
                    <a:pt x="230" y="212"/>
                  </a:cubicBezTo>
                  <a:cubicBezTo>
                    <a:pt x="232" y="212"/>
                    <a:pt x="263" y="210"/>
                    <a:pt x="278" y="209"/>
                  </a:cubicBezTo>
                  <a:cubicBezTo>
                    <a:pt x="295" y="197"/>
                    <a:pt x="292" y="183"/>
                    <a:pt x="288" y="176"/>
                  </a:cubicBezTo>
                  <a:cubicBezTo>
                    <a:pt x="287" y="176"/>
                    <a:pt x="285" y="176"/>
                    <a:pt x="284" y="176"/>
                  </a:cubicBezTo>
                  <a:cubicBezTo>
                    <a:pt x="283" y="176"/>
                    <a:pt x="283" y="176"/>
                    <a:pt x="283" y="176"/>
                  </a:cubicBezTo>
                  <a:cubicBezTo>
                    <a:pt x="283" y="176"/>
                    <a:pt x="283" y="176"/>
                    <a:pt x="283" y="176"/>
                  </a:cubicBezTo>
                  <a:cubicBezTo>
                    <a:pt x="278" y="176"/>
                    <a:pt x="231" y="174"/>
                    <a:pt x="229" y="174"/>
                  </a:cubicBezTo>
                  <a:cubicBezTo>
                    <a:pt x="226" y="174"/>
                    <a:pt x="226" y="174"/>
                    <a:pt x="226" y="174"/>
                  </a:cubicBezTo>
                  <a:cubicBezTo>
                    <a:pt x="222" y="171"/>
                    <a:pt x="222" y="171"/>
                    <a:pt x="222" y="171"/>
                  </a:cubicBezTo>
                  <a:cubicBezTo>
                    <a:pt x="226" y="168"/>
                    <a:pt x="226" y="168"/>
                    <a:pt x="226" y="168"/>
                  </a:cubicBezTo>
                  <a:cubicBezTo>
                    <a:pt x="228" y="168"/>
                    <a:pt x="228" y="168"/>
                    <a:pt x="228" y="168"/>
                  </a:cubicBezTo>
                  <a:cubicBezTo>
                    <a:pt x="231" y="168"/>
                    <a:pt x="280" y="164"/>
                    <a:pt x="284" y="164"/>
                  </a:cubicBezTo>
                  <a:cubicBezTo>
                    <a:pt x="290" y="164"/>
                    <a:pt x="292" y="164"/>
                    <a:pt x="292" y="164"/>
                  </a:cubicBezTo>
                  <a:cubicBezTo>
                    <a:pt x="292" y="164"/>
                    <a:pt x="292" y="164"/>
                    <a:pt x="292" y="164"/>
                  </a:cubicBezTo>
                  <a:cubicBezTo>
                    <a:pt x="302" y="155"/>
                    <a:pt x="308" y="144"/>
                    <a:pt x="296" y="133"/>
                  </a:cubicBezTo>
                  <a:cubicBezTo>
                    <a:pt x="285" y="123"/>
                    <a:pt x="243" y="125"/>
                    <a:pt x="214" y="124"/>
                  </a:cubicBezTo>
                  <a:cubicBezTo>
                    <a:pt x="213" y="124"/>
                    <a:pt x="213" y="124"/>
                    <a:pt x="213" y="124"/>
                  </a:cubicBezTo>
                  <a:cubicBezTo>
                    <a:pt x="212" y="124"/>
                    <a:pt x="212" y="124"/>
                    <a:pt x="212" y="124"/>
                  </a:cubicBezTo>
                  <a:cubicBezTo>
                    <a:pt x="212" y="124"/>
                    <a:pt x="219" y="124"/>
                    <a:pt x="217" y="124"/>
                  </a:cubicBezTo>
                  <a:cubicBezTo>
                    <a:pt x="213" y="124"/>
                    <a:pt x="209" y="124"/>
                    <a:pt x="206" y="124"/>
                  </a:cubicBezTo>
                  <a:cubicBezTo>
                    <a:pt x="192" y="123"/>
                    <a:pt x="167" y="123"/>
                    <a:pt x="165" y="123"/>
                  </a:cubicBezTo>
                  <a:cubicBezTo>
                    <a:pt x="165" y="123"/>
                    <a:pt x="165" y="123"/>
                    <a:pt x="165" y="123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6" y="120"/>
                    <a:pt x="169" y="120"/>
                    <a:pt x="179" y="119"/>
                  </a:cubicBezTo>
                  <a:cubicBezTo>
                    <a:pt x="165" y="90"/>
                    <a:pt x="188" y="73"/>
                    <a:pt x="192" y="58"/>
                  </a:cubicBezTo>
                  <a:cubicBezTo>
                    <a:pt x="206" y="5"/>
                    <a:pt x="178" y="0"/>
                    <a:pt x="178" y="0"/>
                  </a:cubicBezTo>
                  <a:cubicBezTo>
                    <a:pt x="178" y="0"/>
                    <a:pt x="108" y="96"/>
                    <a:pt x="101" y="126"/>
                  </a:cubicBezTo>
                  <a:cubicBezTo>
                    <a:pt x="96" y="148"/>
                    <a:pt x="67" y="146"/>
                    <a:pt x="58" y="146"/>
                  </a:cubicBezTo>
                  <a:cubicBezTo>
                    <a:pt x="10" y="144"/>
                    <a:pt x="0" y="264"/>
                    <a:pt x="53" y="275"/>
                  </a:cubicBezTo>
                  <a:cubicBezTo>
                    <a:pt x="64" y="277"/>
                    <a:pt x="76" y="265"/>
                    <a:pt x="99" y="275"/>
                  </a:cubicBezTo>
                  <a:cubicBezTo>
                    <a:pt x="149" y="296"/>
                    <a:pt x="192" y="287"/>
                    <a:pt x="232" y="286"/>
                  </a:cubicBezTo>
                  <a:cubicBezTo>
                    <a:pt x="259" y="285"/>
                    <a:pt x="257" y="266"/>
                    <a:pt x="255" y="256"/>
                  </a:cubicBezTo>
                  <a:cubicBezTo>
                    <a:pt x="242" y="256"/>
                    <a:pt x="229" y="255"/>
                    <a:pt x="227" y="255"/>
                  </a:cubicBezTo>
                  <a:cubicBezTo>
                    <a:pt x="225" y="255"/>
                    <a:pt x="225" y="255"/>
                    <a:pt x="225" y="255"/>
                  </a:cubicBezTo>
                  <a:cubicBezTo>
                    <a:pt x="221" y="252"/>
                    <a:pt x="221" y="252"/>
                    <a:pt x="221" y="252"/>
                  </a:cubicBezTo>
                  <a:cubicBezTo>
                    <a:pt x="225" y="249"/>
                    <a:pt x="225" y="249"/>
                    <a:pt x="225" y="249"/>
                  </a:cubicBezTo>
                  <a:cubicBezTo>
                    <a:pt x="227" y="249"/>
                    <a:pt x="227" y="249"/>
                    <a:pt x="227" y="249"/>
                  </a:cubicBezTo>
                  <a:cubicBezTo>
                    <a:pt x="229" y="249"/>
                    <a:pt x="247" y="248"/>
                    <a:pt x="262" y="247"/>
                  </a:cubicBezTo>
                  <a:cubicBezTo>
                    <a:pt x="275" y="237"/>
                    <a:pt x="272" y="227"/>
                    <a:pt x="269" y="220"/>
                  </a:cubicBezTo>
                  <a:cubicBezTo>
                    <a:pt x="253" y="219"/>
                    <a:pt x="232" y="218"/>
                    <a:pt x="230" y="218"/>
                  </a:cubicBezTo>
                  <a:lnTo>
                    <a:pt x="228" y="218"/>
                  </a:lnTo>
                </a:path>
              </a:pathLst>
            </a:custGeom>
            <a:solidFill>
              <a:srgbClr val="FFFEFE">
                <a:alpha val="100000"/>
              </a:srgbClr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867036" y="1586060"/>
            <a:ext cx="1781175" cy="45720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ThinkPHP RCE漏洞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1308" y="1962862"/>
            <a:ext cx="2295525" cy="1095375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</a:pP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Thinkphp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远程命令执行漏洞</a:t>
            </a: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 php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的一个开发框架，</a:t>
            </a: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5,0.23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及以前的版本中，获取</a:t>
            </a: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method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的方法中没有正确处理方法名，导致攻击者可以调用</a:t>
            </a: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request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类任意方法，构造</a:t>
            </a:r>
            <a:r>
              <a:rPr lang="en-US" altLang="zh-CN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payload,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导致任意命令执行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3571" y="4932679"/>
            <a:ext cx="2085975" cy="45720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575" b="1">
                <a:solidFill>
                  <a:schemeClr val="accent4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4942" y="5279767"/>
            <a:ext cx="2295525" cy="1084229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66388" y="1342620"/>
            <a:ext cx="2085975" cy="45720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chemeClr val="accent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系统权限提升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5012" y="1665025"/>
            <a:ext cx="2301549" cy="981633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在获取了目标系统的初始访问权限后，我们利用</a:t>
            </a:r>
            <a:r>
              <a:rPr lang="zh-CN" alt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漏洞或者一些配置错误进行权限提升</a:t>
            </a: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61570" y="4247245"/>
            <a:ext cx="2085975" cy="45720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575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70193" y="4610564"/>
            <a:ext cx="2295525" cy="1047750"/>
          </a:xfrm>
          <a:prstGeom prst="rect">
            <a:avLst/>
          </a:prstGeom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</p:txBody>
      </p:sp>
      <p:sp>
        <p:nvSpPr>
          <p:cNvPr id="36" name="Freeform 36"/>
          <p:cNvSpPr/>
          <p:nvPr/>
        </p:nvSpPr>
        <p:spPr>
          <a:xfrm>
            <a:off x="5461862" y="3542506"/>
            <a:ext cx="1371050" cy="137105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w="304800" h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w="304800" h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400007" name="AutoShape 37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漏洞利用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812127" y="3450135"/>
            <a:ext cx="2611755" cy="2343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874324" y="3130380"/>
            <a:ext cx="2611755" cy="2343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9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/>
          <p:nvPr/>
        </p:nvSpPr>
        <p:spPr>
          <a:xfrm>
            <a:off x="457200" y="1524000"/>
            <a:ext cx="7183755" cy="3511550"/>
          </a:xfrm>
          <a:prstGeom prst="rect">
            <a:avLst/>
          </a:prstGeom>
          <a:solidFill>
            <a:schemeClr val="accent2">
              <a:alpha val="79000"/>
            </a:schemeClr>
          </a:solidFill>
        </p:spPr>
      </p:sp>
      <p:sp>
        <p:nvSpPr>
          <p:cNvPr id="7" name="矩形 6"/>
          <p:cNvSpPr/>
          <p:nvPr/>
        </p:nvSpPr>
        <p:spPr>
          <a:xfrm>
            <a:off x="503038" y="468853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ln w="0"/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横向移动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925047" y="1600517"/>
            <a:ext cx="3594826" cy="3594826"/>
          </a:xfrm>
          <a:prstGeom prst="ellipse">
            <a:avLst/>
          </a:prstGeom>
        </p:spPr>
      </p:pic>
      <p:sp>
        <p:nvSpPr>
          <p:cNvPr id="4" name="Content Placeholder 2"/>
          <p:cNvSpPr txBox="1"/>
          <p:nvPr/>
        </p:nvSpPr>
        <p:spPr bwMode="auto">
          <a:xfrm>
            <a:off x="457387" y="1447515"/>
            <a:ext cx="10577028" cy="3190307"/>
          </a:xfrm>
          <a:prstGeom prst="rect">
            <a:avLst/>
          </a:prstGeom>
          <a:noFill/>
          <a:ln>
            <a:noFill/>
          </a:ln>
        </p:spPr>
        <p:txBody>
          <a:bodyPr lIns="91419" tIns="45710" rIns="91419" bIns="45710"/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横向移动</a:t>
            </a:r>
            <a:r>
              <a:rPr lang="en-US" altLang="zh-CN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: </a:t>
            </a: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在获取入口之后，通过入口跳板机向内网进行进一步渗透的过程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代理搭建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网络环境分析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内网信息收集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域内信息收集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700" dirty="0">
                <a:latin typeface="微软雅黑" charset="-122"/>
                <a:ea typeface="微软雅黑" charset="-122"/>
                <a:cs typeface="微软雅黑 Light" panose="020B0502040204020203" charset="-122"/>
                <a:sym typeface="+mn-ea"/>
              </a:rPr>
              <a:t>权限获取</a:t>
            </a: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700" dirty="0">
              <a:latin typeface="微软雅黑" charset="-122"/>
              <a:ea typeface="微软雅黑" charset="-122"/>
              <a:cs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3417" y="3985457"/>
            <a:ext cx="2565012" cy="969374"/>
          </a:xfrm>
          <a:prstGeom prst="rect">
            <a:avLst/>
          </a:prstGeom>
          <a:noFill/>
        </p:spPr>
      </p:sp>
      <p:sp>
        <p:nvSpPr>
          <p:cNvPr id="7" name="Freeform 7"/>
          <p:cNvSpPr/>
          <p:nvPr/>
        </p:nvSpPr>
        <p:spPr>
          <a:xfrm flipH="1">
            <a:off x="4524351" y="1320058"/>
            <a:ext cx="1282094" cy="1282094"/>
          </a:xfrm>
          <a:custGeom>
            <a:avLst/>
            <a:gdLst/>
            <a:ahLst/>
            <a:cxnLst/>
            <a:rect l="l" t="t" r="r" b="b"/>
            <a:pathLst>
              <a:path w="1346030" h="1346030">
                <a:moveTo>
                  <a:pt x="673015" y="0"/>
                </a:moveTo>
                <a:cubicBezTo>
                  <a:pt x="1044712" y="0"/>
                  <a:pt x="1346030" y="301318"/>
                  <a:pt x="1346030" y="673015"/>
                </a:cubicBezTo>
                <a:cubicBezTo>
                  <a:pt x="1346030" y="1044712"/>
                  <a:pt x="1044712" y="1346030"/>
                  <a:pt x="673015" y="1346030"/>
                </a:cubicBezTo>
                <a:lnTo>
                  <a:pt x="669306" y="1345656"/>
                </a:lnTo>
                <a:lnTo>
                  <a:pt x="669306" y="1346030"/>
                </a:lnTo>
                <a:lnTo>
                  <a:pt x="0" y="1346030"/>
                </a:lnTo>
                <a:lnTo>
                  <a:pt x="0" y="1133481"/>
                </a:lnTo>
                <a:lnTo>
                  <a:pt x="194385" y="1133481"/>
                </a:lnTo>
                <a:lnTo>
                  <a:pt x="287636" y="1133481"/>
                </a:lnTo>
                <a:lnTo>
                  <a:pt x="290174" y="1133481"/>
                </a:lnTo>
                <a:lnTo>
                  <a:pt x="652313" y="1133481"/>
                </a:lnTo>
                <a:lnTo>
                  <a:pt x="652313" y="1133225"/>
                </a:lnTo>
                <a:lnTo>
                  <a:pt x="654851" y="1133481"/>
                </a:lnTo>
                <a:cubicBezTo>
                  <a:pt x="909159" y="1133481"/>
                  <a:pt x="1115316" y="927324"/>
                  <a:pt x="1115316" y="673015"/>
                </a:cubicBezTo>
                <a:cubicBezTo>
                  <a:pt x="1115316" y="418706"/>
                  <a:pt x="909159" y="212549"/>
                  <a:pt x="654851" y="212549"/>
                </a:cubicBezTo>
                <a:cubicBezTo>
                  <a:pt x="652114" y="212549"/>
                  <a:pt x="649381" y="212573"/>
                  <a:pt x="646668" y="213374"/>
                </a:cubicBezTo>
                <a:lnTo>
                  <a:pt x="298357" y="213374"/>
                </a:lnTo>
                <a:lnTo>
                  <a:pt x="290174" y="212549"/>
                </a:lnTo>
                <a:cubicBezTo>
                  <a:pt x="287437" y="212549"/>
                  <a:pt x="284704" y="212573"/>
                  <a:pt x="281991" y="213374"/>
                </a:cubicBezTo>
                <a:lnTo>
                  <a:pt x="194385" y="213374"/>
                </a:lnTo>
                <a:lnTo>
                  <a:pt x="0" y="213374"/>
                </a:lnTo>
                <a:lnTo>
                  <a:pt x="0" y="1206"/>
                </a:lnTo>
                <a:lnTo>
                  <a:pt x="661055" y="1206"/>
                </a:lnTo>
                <a:cubicBezTo>
                  <a:pt x="665021" y="34"/>
                  <a:pt x="669015" y="0"/>
                  <a:pt x="673015" y="0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8" name="Freeform 8"/>
          <p:cNvSpPr/>
          <p:nvPr/>
        </p:nvSpPr>
        <p:spPr>
          <a:xfrm>
            <a:off x="5806445" y="2402415"/>
            <a:ext cx="1282094" cy="1282094"/>
          </a:xfrm>
          <a:custGeom>
            <a:avLst/>
            <a:gdLst/>
            <a:ahLst/>
            <a:cxnLst/>
            <a:rect l="l" t="t" r="r" b="b"/>
            <a:pathLst>
              <a:path w="1346030" h="1346030">
                <a:moveTo>
                  <a:pt x="673015" y="0"/>
                </a:moveTo>
                <a:cubicBezTo>
                  <a:pt x="1044712" y="0"/>
                  <a:pt x="1346030" y="301318"/>
                  <a:pt x="1346030" y="673015"/>
                </a:cubicBezTo>
                <a:cubicBezTo>
                  <a:pt x="1346030" y="1044712"/>
                  <a:pt x="1044712" y="1346030"/>
                  <a:pt x="673015" y="1346030"/>
                </a:cubicBezTo>
                <a:lnTo>
                  <a:pt x="669306" y="1345656"/>
                </a:lnTo>
                <a:lnTo>
                  <a:pt x="669306" y="1346030"/>
                </a:lnTo>
                <a:lnTo>
                  <a:pt x="0" y="1346030"/>
                </a:lnTo>
                <a:lnTo>
                  <a:pt x="0" y="1133481"/>
                </a:lnTo>
                <a:lnTo>
                  <a:pt x="194385" y="1133481"/>
                </a:lnTo>
                <a:lnTo>
                  <a:pt x="287636" y="1133481"/>
                </a:lnTo>
                <a:lnTo>
                  <a:pt x="290174" y="1133481"/>
                </a:lnTo>
                <a:lnTo>
                  <a:pt x="652313" y="1133481"/>
                </a:lnTo>
                <a:lnTo>
                  <a:pt x="652313" y="1133225"/>
                </a:lnTo>
                <a:lnTo>
                  <a:pt x="654851" y="1133481"/>
                </a:lnTo>
                <a:cubicBezTo>
                  <a:pt x="909159" y="1133481"/>
                  <a:pt x="1115316" y="927324"/>
                  <a:pt x="1115316" y="673015"/>
                </a:cubicBezTo>
                <a:cubicBezTo>
                  <a:pt x="1115316" y="418706"/>
                  <a:pt x="909159" y="212549"/>
                  <a:pt x="654851" y="212549"/>
                </a:cubicBezTo>
                <a:cubicBezTo>
                  <a:pt x="652114" y="212549"/>
                  <a:pt x="649381" y="212573"/>
                  <a:pt x="646668" y="213374"/>
                </a:cubicBezTo>
                <a:lnTo>
                  <a:pt x="298357" y="213374"/>
                </a:lnTo>
                <a:lnTo>
                  <a:pt x="290174" y="212549"/>
                </a:lnTo>
                <a:cubicBezTo>
                  <a:pt x="287437" y="212549"/>
                  <a:pt x="284704" y="212573"/>
                  <a:pt x="281991" y="213374"/>
                </a:cubicBezTo>
                <a:lnTo>
                  <a:pt x="194385" y="213374"/>
                </a:lnTo>
                <a:lnTo>
                  <a:pt x="0" y="213374"/>
                </a:lnTo>
                <a:lnTo>
                  <a:pt x="0" y="1206"/>
                </a:lnTo>
                <a:lnTo>
                  <a:pt x="661055" y="1206"/>
                </a:lnTo>
                <a:cubicBezTo>
                  <a:pt x="665021" y="34"/>
                  <a:pt x="669015" y="0"/>
                  <a:pt x="673015" y="0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 flipH="1">
            <a:off x="4524351" y="3474973"/>
            <a:ext cx="1282094" cy="1282094"/>
          </a:xfrm>
          <a:custGeom>
            <a:avLst/>
            <a:gdLst/>
            <a:ahLst/>
            <a:cxnLst/>
            <a:rect l="l" t="t" r="r" b="b"/>
            <a:pathLst>
              <a:path w="1346030" h="1346030">
                <a:moveTo>
                  <a:pt x="673015" y="0"/>
                </a:moveTo>
                <a:cubicBezTo>
                  <a:pt x="1044712" y="0"/>
                  <a:pt x="1346030" y="301318"/>
                  <a:pt x="1346030" y="673015"/>
                </a:cubicBezTo>
                <a:cubicBezTo>
                  <a:pt x="1346030" y="1044712"/>
                  <a:pt x="1044712" y="1346030"/>
                  <a:pt x="673015" y="1346030"/>
                </a:cubicBezTo>
                <a:lnTo>
                  <a:pt x="669306" y="1345656"/>
                </a:lnTo>
                <a:lnTo>
                  <a:pt x="669306" y="1346030"/>
                </a:lnTo>
                <a:lnTo>
                  <a:pt x="0" y="1346030"/>
                </a:lnTo>
                <a:lnTo>
                  <a:pt x="0" y="1133481"/>
                </a:lnTo>
                <a:lnTo>
                  <a:pt x="194385" y="1133481"/>
                </a:lnTo>
                <a:lnTo>
                  <a:pt x="287636" y="1133481"/>
                </a:lnTo>
                <a:lnTo>
                  <a:pt x="290174" y="1133481"/>
                </a:lnTo>
                <a:lnTo>
                  <a:pt x="652313" y="1133481"/>
                </a:lnTo>
                <a:lnTo>
                  <a:pt x="652313" y="1133225"/>
                </a:lnTo>
                <a:lnTo>
                  <a:pt x="654851" y="1133481"/>
                </a:lnTo>
                <a:cubicBezTo>
                  <a:pt x="909159" y="1133481"/>
                  <a:pt x="1115316" y="927324"/>
                  <a:pt x="1115316" y="673015"/>
                </a:cubicBezTo>
                <a:cubicBezTo>
                  <a:pt x="1115316" y="418706"/>
                  <a:pt x="909159" y="212549"/>
                  <a:pt x="654851" y="212549"/>
                </a:cubicBezTo>
                <a:cubicBezTo>
                  <a:pt x="652114" y="212549"/>
                  <a:pt x="649381" y="212573"/>
                  <a:pt x="646668" y="213374"/>
                </a:cubicBezTo>
                <a:lnTo>
                  <a:pt x="298357" y="213374"/>
                </a:lnTo>
                <a:lnTo>
                  <a:pt x="290174" y="212549"/>
                </a:lnTo>
                <a:cubicBezTo>
                  <a:pt x="287437" y="212549"/>
                  <a:pt x="284704" y="212573"/>
                  <a:pt x="281991" y="213374"/>
                </a:cubicBezTo>
                <a:lnTo>
                  <a:pt x="194385" y="213374"/>
                </a:lnTo>
                <a:lnTo>
                  <a:pt x="0" y="213374"/>
                </a:lnTo>
                <a:lnTo>
                  <a:pt x="0" y="1206"/>
                </a:lnTo>
                <a:lnTo>
                  <a:pt x="661055" y="1206"/>
                </a:lnTo>
                <a:cubicBezTo>
                  <a:pt x="665021" y="34"/>
                  <a:pt x="669015" y="0"/>
                  <a:pt x="673015" y="0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>
            <a:off x="5806445" y="4551705"/>
            <a:ext cx="1282094" cy="1282094"/>
          </a:xfrm>
          <a:custGeom>
            <a:avLst/>
            <a:gdLst/>
            <a:ahLst/>
            <a:cxnLst/>
            <a:rect l="l" t="t" r="r" b="b"/>
            <a:pathLst>
              <a:path w="1346030" h="1346030">
                <a:moveTo>
                  <a:pt x="673015" y="0"/>
                </a:moveTo>
                <a:cubicBezTo>
                  <a:pt x="1044712" y="0"/>
                  <a:pt x="1346030" y="301318"/>
                  <a:pt x="1346030" y="673015"/>
                </a:cubicBezTo>
                <a:cubicBezTo>
                  <a:pt x="1346030" y="1044712"/>
                  <a:pt x="1044712" y="1346030"/>
                  <a:pt x="673015" y="1346030"/>
                </a:cubicBezTo>
                <a:lnTo>
                  <a:pt x="669306" y="1345656"/>
                </a:lnTo>
                <a:lnTo>
                  <a:pt x="669306" y="1346030"/>
                </a:lnTo>
                <a:lnTo>
                  <a:pt x="0" y="1346030"/>
                </a:lnTo>
                <a:lnTo>
                  <a:pt x="0" y="1133481"/>
                </a:lnTo>
                <a:lnTo>
                  <a:pt x="194385" y="1133481"/>
                </a:lnTo>
                <a:lnTo>
                  <a:pt x="287636" y="1133481"/>
                </a:lnTo>
                <a:lnTo>
                  <a:pt x="290174" y="1133481"/>
                </a:lnTo>
                <a:lnTo>
                  <a:pt x="652313" y="1133481"/>
                </a:lnTo>
                <a:lnTo>
                  <a:pt x="652313" y="1133225"/>
                </a:lnTo>
                <a:lnTo>
                  <a:pt x="654851" y="1133481"/>
                </a:lnTo>
                <a:cubicBezTo>
                  <a:pt x="909159" y="1133481"/>
                  <a:pt x="1115316" y="927324"/>
                  <a:pt x="1115316" y="673015"/>
                </a:cubicBezTo>
                <a:cubicBezTo>
                  <a:pt x="1115316" y="418706"/>
                  <a:pt x="909159" y="212549"/>
                  <a:pt x="654851" y="212549"/>
                </a:cubicBezTo>
                <a:cubicBezTo>
                  <a:pt x="652114" y="212549"/>
                  <a:pt x="649381" y="212573"/>
                  <a:pt x="646668" y="213374"/>
                </a:cubicBezTo>
                <a:lnTo>
                  <a:pt x="298357" y="213374"/>
                </a:lnTo>
                <a:lnTo>
                  <a:pt x="290174" y="212549"/>
                </a:lnTo>
                <a:cubicBezTo>
                  <a:pt x="287437" y="212549"/>
                  <a:pt x="284704" y="212573"/>
                  <a:pt x="281991" y="213374"/>
                </a:cubicBezTo>
                <a:lnTo>
                  <a:pt x="194385" y="213374"/>
                </a:lnTo>
                <a:lnTo>
                  <a:pt x="0" y="213374"/>
                </a:lnTo>
                <a:lnTo>
                  <a:pt x="0" y="1206"/>
                </a:lnTo>
                <a:lnTo>
                  <a:pt x="661055" y="1206"/>
                </a:lnTo>
                <a:cubicBezTo>
                  <a:pt x="665021" y="34"/>
                  <a:pt x="669015" y="0"/>
                  <a:pt x="673015" y="0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1290618" y="914499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DCSync</a:t>
            </a: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075" y="1403350"/>
            <a:ext cx="4150360" cy="1576070"/>
          </a:xfrm>
          <a:prstGeom prst="rect">
            <a:avLst/>
          </a:prstGeom>
        </p:spPr>
        <p:txBody>
          <a:bodyPr vert="horz" wrap="square" lIns="66008" tIns="33052" rIns="66008" bIns="33052" rtlCol="0" anchor="ctr" anchorCtr="0"/>
          <a:lstStyle/>
          <a:p>
            <a:pPr algn="ctr">
              <a:lnSpc>
                <a:spcPct val="188000"/>
              </a:lnSpc>
            </a:pP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DCSync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是一种利用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Microsoft Active Directory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内部复制机制获取账户哈希（包括域管理员账户）的攻击技术。它由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Mimikatz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工具的作者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Benjamin Delpy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提出，是进行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横向移动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持久化控制域环境</a:t>
            </a:r>
            <a:r>
              <a:rPr lang="en-US" altLang="zh-CN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的核心技术之一。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5698" y="3581653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Dcsync</a:t>
            </a: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利用条件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9730" y="3889375"/>
            <a:ext cx="4144645" cy="182626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 fontScale="90000"/>
          </a:bodyPr>
          <a:lstStyle/>
          <a:p>
            <a:pPr algn="ctr">
              <a:lnSpc>
                <a:spcPct val="188000"/>
              </a:lnSpc>
            </a:pP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复制目录更改（</a:t>
            </a:r>
            <a:r>
              <a:rPr lang="en-US" altLang="zh-CN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DS-Replication-Get-Changes</a:t>
            </a: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lang="en-US" altLang="zh-CN" sz="1425">
              <a:solidFill>
                <a:schemeClr val="dk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88000"/>
              </a:lnSpc>
            </a:pP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全部复制目录更改</a:t>
            </a:r>
            <a:r>
              <a:rPr lang="en-US" altLang="zh-CN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(DS-Replication-Get-Changes-All )</a:t>
            </a:r>
          </a:p>
          <a:p>
            <a:pPr algn="ctr">
              <a:lnSpc>
                <a:spcPct val="188000"/>
              </a:lnSpc>
            </a:pP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在过滤集中复制目录更改</a:t>
            </a:r>
            <a:r>
              <a:rPr lang="en-US" altLang="zh-CN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可有可无</a:t>
            </a:r>
            <a:r>
              <a:rPr lang="en-US" altLang="zh-CN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lang="en-US" altLang="zh-CN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DS-Replication-Get-Changes-In-Filtered-Set</a:t>
            </a:r>
            <a:r>
              <a:rPr lang="zh-CN" altLang="en-US" sz="142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88538" y="1898733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chemeClr val="accent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Admin账户hash的获取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92099" y="2312835"/>
            <a:ext cx="3130173" cy="157624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在成功执行DCSync工具后，我们获取了域管理员账户的密码哈希值，这为我们提供了进入域内其他系统的方法。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40319" y="4197580"/>
            <a:ext cx="3233733" cy="46704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50" b="1">
                <a:solidFill>
                  <a:schemeClr val="accent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安全策略与措施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43879" y="4611682"/>
            <a:ext cx="3130173" cy="157624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88000"/>
              </a:lnSpc>
            </a:pPr>
            <a:r>
              <a:rPr lang="en-US" altLang="zh-CN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DCSync </a:t>
            </a:r>
            <a:r>
              <a:rPr lang="zh-CN" alt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攻击利用的是</a:t>
            </a:r>
            <a:r>
              <a:rPr lang="en-US" altLang="zh-CN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Active Directory </a:t>
            </a:r>
            <a:r>
              <a:rPr lang="zh-CN" alt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的合法复制机制，防护的关键在于</a:t>
            </a:r>
            <a:r>
              <a:rPr lang="en-US" altLang="zh-CN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限制权限、增强检测</a:t>
            </a:r>
            <a:r>
              <a:rPr lang="en-US" altLang="zh-CN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2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日志审计。</a:t>
            </a:r>
          </a:p>
          <a:p>
            <a:pPr algn="ctr">
              <a:lnSpc>
                <a:spcPct val="188000"/>
              </a:lnSpc>
            </a:pPr>
            <a:endParaRPr lang="zh-CN" altLang="en-US" sz="1275">
              <a:solidFill>
                <a:schemeClr val="dk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0007" name="AutoShape 19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57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Dcsync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AutoShape 2"/>
          <p:cNvSpPr/>
          <p:nvPr/>
        </p:nvSpPr>
        <p:spPr>
          <a:xfrm>
            <a:off x="12000216" y="6266571"/>
            <a:ext cx="191784" cy="217801"/>
          </a:xfrm>
          <a:prstGeom prst="rect">
            <a:avLst/>
          </a:prstGeom>
          <a:solidFill>
            <a:srgbClr val="F8C033">
              <a:alpha val="100000"/>
            </a:srgbClr>
          </a:solidFill>
        </p:spPr>
      </p:sp>
      <p:sp>
        <p:nvSpPr>
          <p:cNvPr id="400020" name="AutoShape 3"/>
          <p:cNvSpPr/>
          <p:nvPr/>
        </p:nvSpPr>
        <p:spPr>
          <a:xfrm>
            <a:off x="12092682" y="6264360"/>
            <a:ext cx="191359" cy="217801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400008" name="AutoShape 4"/>
          <p:cNvSpPr/>
          <p:nvPr/>
        </p:nvSpPr>
        <p:spPr>
          <a:xfrm>
            <a:off x="0" y="534871"/>
            <a:ext cx="223144" cy="406033"/>
          </a:xfrm>
          <a:prstGeom prst="rect">
            <a:avLst/>
          </a:prstGeom>
          <a:solidFill>
            <a:srgbClr val="F8C033">
              <a:alpha val="100000"/>
            </a:srgbClr>
          </a:solidFill>
          <a:ln w="12700">
            <a:solidFill>
              <a:srgbClr val="F8C033">
                <a:alpha val="100000"/>
              </a:srgbClr>
            </a:solidFill>
            <a:prstDash val="solid"/>
          </a:ln>
        </p:spPr>
      </p:sp>
      <p:pic>
        <p:nvPicPr>
          <p:cNvPr id="400003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4970" y="6204585"/>
            <a:ext cx="2597785" cy="35496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249697" y="3865013"/>
            <a:ext cx="2167467" cy="1826280"/>
          </a:xfrm>
          <a:prstGeom prst="triangl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3776918" y="3865013"/>
            <a:ext cx="2167467" cy="1826280"/>
          </a:xfrm>
          <a:prstGeom prst="triangl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5012267" y="1711093"/>
            <a:ext cx="2167467" cy="1826280"/>
          </a:xfrm>
          <a:prstGeom prst="triangl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>
            <a:off x="5743787" y="3022600"/>
            <a:ext cx="704427" cy="520192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952500"/>
                </a:lnTo>
                <a:lnTo>
                  <a:pt x="476250" y="952500"/>
                </a:lnTo>
                <a:lnTo>
                  <a:pt x="476250" y="1905000"/>
                </a:lnTo>
                <a:lnTo>
                  <a:pt x="1428750" y="1905000"/>
                </a:lnTo>
                <a:lnTo>
                  <a:pt x="1428750" y="952500"/>
                </a:lnTo>
                <a:lnTo>
                  <a:pt x="1905000" y="952500"/>
                </a:lnTo>
                <a:lnTo>
                  <a:pt x="952500" y="0"/>
                </a:lnTo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10" name="Freeform 10"/>
          <p:cNvSpPr/>
          <p:nvPr/>
        </p:nvSpPr>
        <p:spPr>
          <a:xfrm rot="7259206">
            <a:off x="6589098" y="4674355"/>
            <a:ext cx="704427" cy="520192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952500"/>
                </a:lnTo>
                <a:lnTo>
                  <a:pt x="476250" y="952500"/>
                </a:lnTo>
                <a:lnTo>
                  <a:pt x="476250" y="1905000"/>
                </a:lnTo>
                <a:lnTo>
                  <a:pt x="1428750" y="1905000"/>
                </a:lnTo>
                <a:lnTo>
                  <a:pt x="1428750" y="952500"/>
                </a:lnTo>
                <a:lnTo>
                  <a:pt x="1905000" y="952500"/>
                </a:lnTo>
                <a:lnTo>
                  <a:pt x="952500" y="0"/>
                </a:lnTo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11" name="Freeform 11"/>
          <p:cNvSpPr/>
          <p:nvPr/>
        </p:nvSpPr>
        <p:spPr>
          <a:xfrm rot="-7221168">
            <a:off x="4910864" y="4658432"/>
            <a:ext cx="704427" cy="520192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952500"/>
                </a:lnTo>
                <a:lnTo>
                  <a:pt x="476250" y="952500"/>
                </a:lnTo>
                <a:lnTo>
                  <a:pt x="476250" y="1905000"/>
                </a:lnTo>
                <a:lnTo>
                  <a:pt x="1428750" y="1905000"/>
                </a:lnTo>
                <a:lnTo>
                  <a:pt x="1428750" y="952500"/>
                </a:lnTo>
                <a:lnTo>
                  <a:pt x="1905000" y="952500"/>
                </a:lnTo>
                <a:lnTo>
                  <a:pt x="952500" y="0"/>
                </a:lnTo>
              </a:path>
            </a:pathLst>
          </a:custGeom>
          <a:solidFill>
            <a:schemeClr val="lt1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>
            <a:off x="6941312" y="1711093"/>
            <a:ext cx="3862453" cy="11216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无需明文密码即可横向移动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33969" y="4100915"/>
            <a:ext cx="3190554" cy="112166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使用工具如Mimikatz进行PTH攻击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9006" y="3172778"/>
            <a:ext cx="3483489" cy="163258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lang="en-US" altLang="zh-CN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type3</a:t>
            </a:r>
            <a:r>
              <a:rPr lang="zh-CN" alt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计算</a:t>
            </a:r>
            <a:r>
              <a:rPr lang="en-US" altLang="zh-CN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response</a:t>
            </a:r>
            <a:r>
              <a:rPr lang="zh-CN" alt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的时候，客户端是使用用户的</a:t>
            </a:r>
            <a:r>
              <a:rPr lang="en-US" altLang="zh-CN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hash</a:t>
            </a:r>
            <a:r>
              <a:rPr lang="zh-CN" alt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进行计算的，而不是用户密码进行计算的。因此在模拟用户登录的时候。是不需要用户明文密码的，只需要用户</a:t>
            </a:r>
            <a:r>
              <a:rPr lang="en-US" altLang="zh-CN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hash</a:t>
            </a:r>
            <a:r>
              <a:rPr lang="zh-CN" altLang="en-US" sz="150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5012267" y="3733610"/>
            <a:ext cx="2167467" cy="1826280"/>
          </a:xfrm>
          <a:prstGeom prst="triangl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6" name="Freeform 16"/>
          <p:cNvSpPr/>
          <p:nvPr/>
        </p:nvSpPr>
        <p:spPr>
          <a:xfrm>
            <a:off x="5786411" y="3999944"/>
            <a:ext cx="661803" cy="66180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00007" name="AutoShape 17"/>
          <p:cNvSpPr/>
          <p:nvPr/>
        </p:nvSpPr>
        <p:spPr>
          <a:xfrm>
            <a:off x="503038" y="468853"/>
            <a:ext cx="3978077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defRPr/>
            </a:pPr>
            <a:r>
              <a:rPr lang="en-US" sz="2425" b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PTH(Pass The Hash)攻击</a:t>
            </a:r>
            <a:endParaRPr lang="en-US" sz="11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43000"/>
            <a:ext cx="3101975" cy="1661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00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>
              <a:alpha val="100000"/>
            </a:srgbClr>
          </a:solidFill>
          <a:ln w="12700">
            <a:solidFill>
              <a:srgbClr val="2F528F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</p:sp>
      <p:pic>
        <p:nvPicPr>
          <p:cNvPr id="180000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83008" y="1528885"/>
            <a:ext cx="3825984" cy="3800229"/>
          </a:xfrm>
          <a:prstGeom prst="rect">
            <a:avLst/>
          </a:prstGeom>
        </p:spPr>
      </p:pic>
      <p:sp>
        <p:nvSpPr>
          <p:cNvPr id="1800008" name="Auto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</p:sp>
      <p:sp>
        <p:nvSpPr>
          <p:cNvPr id="1800004" name="AutoShape 5"/>
          <p:cNvSpPr/>
          <p:nvPr/>
        </p:nvSpPr>
        <p:spPr>
          <a:xfrm>
            <a:off x="4146698" y="2919596"/>
            <a:ext cx="3689497" cy="277883"/>
          </a:xfrm>
          <a:prstGeom prst="rect">
            <a:avLst/>
          </a:prstGeom>
          <a:solidFill>
            <a:srgbClr val="595959">
              <a:alpha val="100000"/>
            </a:srgb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</p:sp>
      <p:sp>
        <p:nvSpPr>
          <p:cNvPr id="1800009" name="AutoShape 6"/>
          <p:cNvSpPr/>
          <p:nvPr/>
        </p:nvSpPr>
        <p:spPr>
          <a:xfrm>
            <a:off x="0" y="6709144"/>
            <a:ext cx="12192000" cy="148856"/>
          </a:xfrm>
          <a:prstGeom prst="rect">
            <a:avLst/>
          </a:prstGeom>
          <a:solidFill>
            <a:srgbClr val="FFC000">
              <a:alpha val="100000"/>
            </a:srgb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</p:sp>
      <p:sp>
        <p:nvSpPr>
          <p:cNvPr id="1800007" name="TextBox 7"/>
          <p:cNvSpPr txBox="1"/>
          <p:nvPr/>
        </p:nvSpPr>
        <p:spPr>
          <a:xfrm>
            <a:off x="2911477" y="2702361"/>
            <a:ext cx="6156394" cy="547252"/>
          </a:xfrm>
          <a:prstGeom prst="rect">
            <a:avLst/>
          </a:prstGeom>
          <a:noFill/>
        </p:spPr>
        <p:txBody>
          <a:bodyPr vert="horz" wrap="square" lIns="121920" tIns="60960" rIns="121920" bIns="60960" rtlCol="0" anchor="ctr" anchorCtr="0">
            <a:norm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STZhongsong"/>
                <a:ea typeface="STZhongsong"/>
                <a:cs typeface="STZhongsong"/>
              </a:rPr>
              <a:t>聚焦优势 · 合作共生 · 有信有诺</a:t>
            </a:r>
          </a:p>
        </p:txBody>
      </p:sp>
      <p:sp>
        <p:nvSpPr>
          <p:cNvPr id="1800012" name="TextBox 8"/>
          <p:cNvSpPr txBox="1"/>
          <p:nvPr/>
        </p:nvSpPr>
        <p:spPr>
          <a:xfrm>
            <a:off x="3862171" y="2115418"/>
            <a:ext cx="4198201" cy="86177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4850" b="1">
                <a:solidFill>
                  <a:srgbClr val="F8C033">
                    <a:alpha val="100000"/>
                  </a:srgbClr>
                </a:solidFill>
                <a:latin typeface="等线"/>
                <a:ea typeface="等线"/>
                <a:cs typeface="等线"/>
              </a:rPr>
              <a:t>THANK YOU!</a:t>
            </a:r>
          </a:p>
        </p:txBody>
      </p:sp>
      <p:pic>
        <p:nvPicPr>
          <p:cNvPr id="1800005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80726" y="3608388"/>
            <a:ext cx="3561090" cy="820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8C033"/>
      </a:accent1>
      <a:accent2>
        <a:srgbClr val="F8C033"/>
      </a:accent2>
      <a:accent3>
        <a:srgbClr val="F8C033"/>
      </a:accent3>
      <a:accent4>
        <a:srgbClr val="F8C03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791</Words>
  <Application>Microsoft Macintosh PowerPoint</Application>
  <PresentationFormat>宽屏</PresentationFormat>
  <Paragraphs>124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黑体</vt:lpstr>
      <vt:lpstr>STZhongsong</vt:lpstr>
      <vt:lpstr>宋体</vt:lpstr>
      <vt:lpstr>Microsoft Yahei</vt:lpstr>
      <vt:lpstr>Microsoft Yahei</vt:lpstr>
      <vt:lpstr>Agency FB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lxj133_1226@outlook.com</cp:lastModifiedBy>
  <cp:revision>13</cp:revision>
  <dcterms:created xsi:type="dcterms:W3CDTF">2025-05-27T10:23:58Z</dcterms:created>
  <dcterms:modified xsi:type="dcterms:W3CDTF">2025-06-22T03:22:06Z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B8C3A2B2B27E827CD2003468B6AEF4F3_42</vt:lpwstr>
  </property>
  <property fmtid="{D5CDD505-2E9C-101B-9397-08002B2CF9AE}" pid="3" name="KSOProductBuildVer">
    <vt:lpwstr>2052-7.4.1.8983</vt:lpwstr>
  </property>
</Properties>
</file>